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52"/>
  </p:notesMasterIdLst>
  <p:sldIdLst>
    <p:sldId id="272" r:id="rId2"/>
    <p:sldId id="274" r:id="rId3"/>
    <p:sldId id="279" r:id="rId4"/>
    <p:sldId id="285" r:id="rId5"/>
    <p:sldId id="284" r:id="rId6"/>
    <p:sldId id="311" r:id="rId7"/>
    <p:sldId id="313" r:id="rId8"/>
    <p:sldId id="312" r:id="rId9"/>
    <p:sldId id="283" r:id="rId10"/>
    <p:sldId id="282" r:id="rId11"/>
    <p:sldId id="323" r:id="rId12"/>
    <p:sldId id="324" r:id="rId13"/>
    <p:sldId id="325" r:id="rId14"/>
    <p:sldId id="326" r:id="rId15"/>
    <p:sldId id="327" r:id="rId16"/>
    <p:sldId id="328" r:id="rId17"/>
    <p:sldId id="281" r:id="rId18"/>
    <p:sldId id="280" r:id="rId19"/>
    <p:sldId id="286" r:id="rId20"/>
    <p:sldId id="288" r:id="rId21"/>
    <p:sldId id="289" r:id="rId22"/>
    <p:sldId id="290" r:id="rId23"/>
    <p:sldId id="291" r:id="rId24"/>
    <p:sldId id="292" r:id="rId25"/>
    <p:sldId id="293" r:id="rId26"/>
    <p:sldId id="294" r:id="rId27"/>
    <p:sldId id="295" r:id="rId28"/>
    <p:sldId id="296" r:id="rId29"/>
    <p:sldId id="297" r:id="rId30"/>
    <p:sldId id="298" r:id="rId31"/>
    <p:sldId id="299" r:id="rId32"/>
    <p:sldId id="300" r:id="rId33"/>
    <p:sldId id="301" r:id="rId34"/>
    <p:sldId id="302" r:id="rId35"/>
    <p:sldId id="303" r:id="rId36"/>
    <p:sldId id="304" r:id="rId37"/>
    <p:sldId id="305" r:id="rId38"/>
    <p:sldId id="306" r:id="rId39"/>
    <p:sldId id="307" r:id="rId40"/>
    <p:sldId id="308" r:id="rId41"/>
    <p:sldId id="314" r:id="rId42"/>
    <p:sldId id="315" r:id="rId43"/>
    <p:sldId id="316" r:id="rId44"/>
    <p:sldId id="317" r:id="rId45"/>
    <p:sldId id="318" r:id="rId46"/>
    <p:sldId id="319" r:id="rId47"/>
    <p:sldId id="320" r:id="rId48"/>
    <p:sldId id="321" r:id="rId49"/>
    <p:sldId id="322" r:id="rId50"/>
    <p:sldId id="278"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799B23B-EC83-4686-B30A-512413B5E67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96" y="9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D4573-58E7-4156-A133-2731F5F8D1A6}" type="datetimeFigureOut">
              <a:rPr lang="en-US" smtClean="0"/>
              <a:t>5/21/2026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3B0CF2-7F87-4E02-A248-870047730F99}" type="slidenum">
              <a:rPr lang="en-US" smtClean="0"/>
              <a:t>‹Nº›</a:t>
            </a:fld>
            <a:endParaRPr lang="en-US"/>
          </a:p>
        </p:txBody>
      </p:sp>
    </p:spTree>
    <p:extLst>
      <p:ext uri="{BB962C8B-B14F-4D97-AF65-F5344CB8AC3E}">
        <p14:creationId xmlns:p14="http://schemas.microsoft.com/office/powerpoint/2010/main" val="3614981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93B0CF2-7F87-4E02-A248-870047730F99}" type="slidenum">
              <a:rPr lang="en-US" smtClean="0"/>
              <a:t>1</a:t>
            </a:fld>
            <a:endParaRPr lang="en-US"/>
          </a:p>
        </p:txBody>
      </p:sp>
    </p:spTree>
    <p:extLst>
      <p:ext uri="{BB962C8B-B14F-4D97-AF65-F5344CB8AC3E}">
        <p14:creationId xmlns:p14="http://schemas.microsoft.com/office/powerpoint/2010/main" val="1495133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1">
        <a:schemeClr val="bg1"/>
      </p:bgRef>
    </p:bg>
    <p:spTree>
      <p:nvGrpSpPr>
        <p:cNvPr id="1" name=""/>
        <p:cNvGrpSpPr/>
        <p:nvPr/>
      </p:nvGrpSpPr>
      <p:grpSpPr>
        <a:xfrm>
          <a:off x="0" y="0"/>
          <a:ext cx="0" cy="0"/>
          <a:chOff x="0" y="0"/>
          <a:chExt cx="0" cy="0"/>
        </a:xfrm>
      </p:grpSpPr>
      <p:grpSp>
        <p:nvGrpSpPr>
          <p:cNvPr id="10" name="Group 9"/>
          <p:cNvGrpSpPr/>
          <p:nvPr/>
        </p:nvGrpSpPr>
        <p:grpSpPr>
          <a:xfrm>
            <a:off x="0" y="6208894"/>
            <a:ext cx="12192000" cy="649106"/>
            <a:chOff x="0" y="6208894"/>
            <a:chExt cx="12192000" cy="649106"/>
          </a:xfrm>
        </p:grpSpPr>
        <p:sp>
          <p:nvSpPr>
            <p:cNvPr id="2" name="Rectangle 1"/>
            <p:cNvSpPr/>
            <p:nvPr/>
          </p:nvSpPr>
          <p:spPr>
            <a:xfrm>
              <a:off x="3048" y="6220178"/>
              <a:ext cx="12188952" cy="637822"/>
            </a:xfrm>
            <a:prstGeom prst="rect">
              <a:avLst/>
            </a:prstGeom>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cxnSp>
          <p:nvCxnSpPr>
            <p:cNvPr id="7" name="Straight Connector 6"/>
            <p:cNvCxnSpPr/>
            <p:nvPr/>
          </p:nvCxnSpPr>
          <p:spPr>
            <a:xfrm>
              <a:off x="0" y="6208894"/>
              <a:ext cx="121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5" name="Straight Connector 4"/>
          <p:cNvCxnSpPr/>
          <p:nvPr userDrawn="1"/>
        </p:nvCxnSpPr>
        <p:spPr>
          <a:xfrm flipV="1">
            <a:off x="3048" y="5937956"/>
            <a:ext cx="8241" cy="564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flipV="1">
            <a:off x="3048" y="5937956"/>
            <a:ext cx="8241" cy="5644"/>
          </a:xfrm>
          <a:prstGeom prst="line">
            <a:avLst/>
          </a:prstGeom>
        </p:spPr>
        <p:style>
          <a:lnRef idx="1">
            <a:schemeClr val="accent1"/>
          </a:lnRef>
          <a:fillRef idx="0">
            <a:schemeClr val="accent1"/>
          </a:fillRef>
          <a:effectRef idx="0">
            <a:schemeClr val="accent1"/>
          </a:effectRef>
          <a:fontRef idx="minor">
            <a:schemeClr val="tx1"/>
          </a:fontRef>
        </p:style>
      </p:cxnSp>
      <p:sp>
        <p:nvSpPr>
          <p:cNvPr id="9" name="Title 8"/>
          <p:cNvSpPr>
            <a:spLocks noGrp="1"/>
          </p:cNvSpPr>
          <p:nvPr>
            <p:ph type="ctrTitle"/>
          </p:nvPr>
        </p:nvSpPr>
        <p:spPr>
          <a:xfrm>
            <a:off x="711200" y="1371600"/>
            <a:ext cx="10468864"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tx2"/>
                </a:solidFill>
                <a:effectLst/>
                <a:latin typeface="+mj-lt"/>
                <a:ea typeface="+mj-ea"/>
                <a:cs typeface="+mj-cs"/>
              </a:defRPr>
            </a:lvl1pPr>
          </a:lstStyle>
          <a:p>
            <a:r>
              <a:rPr kumimoji="0" lang="en-US"/>
              <a:t>Click to edit Master title style</a:t>
            </a:r>
            <a:endParaRPr kumimoji="0" lang="en-US" dirty="0"/>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021A1D30-C0A0-4124-A783-34D9F15FA0FE}" type="datetime1">
              <a:rPr lang="en-US" smtClean="0"/>
              <a:t>5/21/2026</a:t>
            </a:fld>
            <a:endParaRPr lang="en-US"/>
          </a:p>
        </p:txBody>
      </p:sp>
      <p:sp>
        <p:nvSpPr>
          <p:cNvPr id="19" name="Footer Placeholder 18"/>
          <p:cNvSpPr>
            <a:spLocks noGrp="1"/>
          </p:cNvSpPr>
          <p:nvPr>
            <p:ph type="ftr" sz="quarter" idx="11"/>
          </p:nvPr>
        </p:nvSpPr>
        <p:spPr/>
        <p:txBody>
          <a:bodyPr/>
          <a:lstStyle/>
          <a:p>
            <a:r>
              <a:rPr lang="en-US" dirty="0"/>
              <a:t>Add a footer</a:t>
            </a:r>
          </a:p>
        </p:txBody>
      </p:sp>
      <p:sp>
        <p:nvSpPr>
          <p:cNvPr id="27" name="Slide Number Placeholder 26"/>
          <p:cNvSpPr>
            <a:spLocks noGrp="1"/>
          </p:cNvSpPr>
          <p:nvPr>
            <p:ph type="sldNum" sz="quarter" idx="12"/>
          </p:nvPr>
        </p:nvSpPr>
        <p:spPr/>
        <p:txBody>
          <a:bodyPr/>
          <a:lstStyle/>
          <a:p>
            <a:fld id="{401CF334-2D5C-4859-84A6-CA7E6E43FAEB}" type="slidenum">
              <a:rPr lang="en-US" smtClean="0"/>
              <a:t>‹Nº›</a:t>
            </a:fld>
            <a:endParaRPr lang="en-US"/>
          </a:p>
        </p:txBody>
      </p:sp>
    </p:spTree>
    <p:extLst>
      <p:ext uri="{BB962C8B-B14F-4D97-AF65-F5344CB8AC3E}">
        <p14:creationId xmlns:p14="http://schemas.microsoft.com/office/powerpoint/2010/main" val="2980820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5F28077-7188-48C5-8679-2287FAC952E9}" type="datetime1">
              <a:rPr lang="en-US" smtClean="0"/>
              <a:t>5/21/2026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401CF334-2D5C-4859-84A6-CA7E6E43FAEB}" type="slidenum">
              <a:rPr lang="en-US" smtClean="0"/>
              <a:t>‹Nº›</a:t>
            </a:fld>
            <a:endParaRPr lang="en-US"/>
          </a:p>
        </p:txBody>
      </p:sp>
    </p:spTree>
    <p:extLst>
      <p:ext uri="{BB962C8B-B14F-4D97-AF65-F5344CB8AC3E}">
        <p14:creationId xmlns:p14="http://schemas.microsoft.com/office/powerpoint/2010/main" val="1481682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707136" y="2704664"/>
            <a:ext cx="103632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Edit Master text styles</a:t>
            </a:r>
          </a:p>
        </p:txBody>
      </p:sp>
      <p:sp>
        <p:nvSpPr>
          <p:cNvPr id="4" name="Date Placeholder 3"/>
          <p:cNvSpPr>
            <a:spLocks noGrp="1"/>
          </p:cNvSpPr>
          <p:nvPr>
            <p:ph type="dt" sz="half" idx="10"/>
          </p:nvPr>
        </p:nvSpPr>
        <p:spPr/>
        <p:txBody>
          <a:bodyPr/>
          <a:lstStyle/>
          <a:p>
            <a:fld id="{D2DCB740-6776-4EE9-99FD-96D592FA5A23}" type="datetime1">
              <a:rPr lang="en-US" smtClean="0"/>
              <a:t>5/21/2026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401CF334-2D5C-4859-84A6-CA7E6E43FAEB}" type="slidenum">
              <a:rPr lang="en-US" smtClean="0"/>
              <a:t>‹Nº›</a:t>
            </a:fld>
            <a:endParaRPr lang="en-US"/>
          </a:p>
        </p:txBody>
      </p:sp>
    </p:spTree>
    <p:extLst>
      <p:ext uri="{BB962C8B-B14F-4D97-AF65-F5344CB8AC3E}">
        <p14:creationId xmlns:p14="http://schemas.microsoft.com/office/powerpoint/2010/main" val="353193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kumimoji="0"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5F6BD99-6FFD-46C5-B5E2-43A34BDA2566}" type="datetime1">
              <a:rPr lang="en-US" smtClean="0"/>
              <a:t>5/21/2026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401CF334-2D5C-4859-84A6-CA7E6E43FAEB}" type="slidenum">
              <a:rPr lang="en-US" smtClean="0"/>
              <a:t>‹Nº›</a:t>
            </a:fld>
            <a:endParaRPr lang="en-US"/>
          </a:p>
        </p:txBody>
      </p:sp>
    </p:spTree>
    <p:extLst>
      <p:ext uri="{BB962C8B-B14F-4D97-AF65-F5344CB8AC3E}">
        <p14:creationId xmlns:p14="http://schemas.microsoft.com/office/powerpoint/2010/main" val="109018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1"/>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1"/>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Edit Master text styles</a:t>
            </a:r>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E022678E-214C-4CF8-97C7-95015FB02960}" type="datetime1">
              <a:rPr lang="en-US" smtClean="0"/>
              <a:t>5/21/2026</a:t>
            </a:fld>
            <a:endParaRPr lang="en-US"/>
          </a:p>
        </p:txBody>
      </p:sp>
      <p:sp>
        <p:nvSpPr>
          <p:cNvPr id="8" name="Footer Placeholder 7"/>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401CF334-2D5C-4859-84A6-CA7E6E43FAEB}" type="slidenum">
              <a:rPr lang="en-US" smtClean="0"/>
              <a:t>‹Nº›</a:t>
            </a:fld>
            <a:endParaRPr lang="en-US"/>
          </a:p>
        </p:txBody>
      </p:sp>
    </p:spTree>
    <p:extLst>
      <p:ext uri="{BB962C8B-B14F-4D97-AF65-F5344CB8AC3E}">
        <p14:creationId xmlns:p14="http://schemas.microsoft.com/office/powerpoint/2010/main" val="1250188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D55660E0-FA77-4473-A859-74127B089143}" type="datetime1">
              <a:rPr lang="en-US" smtClean="0"/>
              <a:t>5/21/2026</a:t>
            </a:fld>
            <a:endParaRPr lang="en-US"/>
          </a:p>
        </p:txBody>
      </p:sp>
      <p:sp>
        <p:nvSpPr>
          <p:cNvPr id="4" name="Footer Placeholder 3"/>
          <p:cNvSpPr>
            <a:spLocks noGrp="1"/>
          </p:cNvSpPr>
          <p:nvPr>
            <p:ph type="ftr" sz="quarter" idx="11"/>
          </p:nvPr>
        </p:nvSpPr>
        <p:spPr/>
        <p:txBody>
          <a:bodyPr/>
          <a:lstStyle/>
          <a:p>
            <a:r>
              <a:rPr lang="en-US" dirty="0"/>
              <a:t>Add a footer</a:t>
            </a:r>
          </a:p>
        </p:txBody>
      </p:sp>
      <p:sp>
        <p:nvSpPr>
          <p:cNvPr id="5" name="Slide Number Placeholder 4"/>
          <p:cNvSpPr>
            <a:spLocks noGrp="1"/>
          </p:cNvSpPr>
          <p:nvPr>
            <p:ph type="sldNum" sz="quarter" idx="12"/>
          </p:nvPr>
        </p:nvSpPr>
        <p:spPr/>
        <p:txBody>
          <a:bodyPr/>
          <a:lstStyle/>
          <a:p>
            <a:fld id="{401CF334-2D5C-4859-84A6-CA7E6E43FAEB}" type="slidenum">
              <a:rPr lang="en-US" smtClean="0"/>
              <a:t>‹Nº›</a:t>
            </a:fld>
            <a:endParaRPr lang="en-US"/>
          </a:p>
        </p:txBody>
      </p:sp>
    </p:spTree>
    <p:extLst>
      <p:ext uri="{BB962C8B-B14F-4D97-AF65-F5344CB8AC3E}">
        <p14:creationId xmlns:p14="http://schemas.microsoft.com/office/powerpoint/2010/main" val="3071814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88D7B8-9F07-4899-827D-5F3CFDDEB574}" type="datetime1">
              <a:rPr lang="en-US" smtClean="0"/>
              <a:t>5/21/2026</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4" name="Slide Number Placeholder 3"/>
          <p:cNvSpPr>
            <a:spLocks noGrp="1"/>
          </p:cNvSpPr>
          <p:nvPr>
            <p:ph type="sldNum" sz="quarter" idx="12"/>
          </p:nvPr>
        </p:nvSpPr>
        <p:spPr/>
        <p:txBody>
          <a:bodyPr/>
          <a:lstStyle/>
          <a:p>
            <a:fld id="{401CF334-2D5C-4859-84A6-CA7E6E43FAEB}" type="slidenum">
              <a:rPr lang="en-US" smtClean="0"/>
              <a:t>‹Nº›</a:t>
            </a:fld>
            <a:endParaRPr lang="en-US"/>
          </a:p>
        </p:txBody>
      </p:sp>
    </p:spTree>
    <p:extLst>
      <p:ext uri="{BB962C8B-B14F-4D97-AF65-F5344CB8AC3E}">
        <p14:creationId xmlns:p14="http://schemas.microsoft.com/office/powerpoint/2010/main" val="252882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Edit Master text styles</a:t>
            </a:r>
          </a:p>
        </p:txBody>
      </p:sp>
      <p:sp>
        <p:nvSpPr>
          <p:cNvPr id="5" name="Date Placeholder 4"/>
          <p:cNvSpPr>
            <a:spLocks noGrp="1"/>
          </p:cNvSpPr>
          <p:nvPr>
            <p:ph type="dt" sz="half" idx="10"/>
          </p:nvPr>
        </p:nvSpPr>
        <p:spPr/>
        <p:txBody>
          <a:bodyPr/>
          <a:lstStyle/>
          <a:p>
            <a:fld id="{B5197C5C-1CD1-417D-A89C-14747F5222C7}" type="datetime1">
              <a:rPr lang="en-US" smtClean="0"/>
              <a:t>5/21/2026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401CF334-2D5C-4859-84A6-CA7E6E43FAEB}" type="slidenum">
              <a:rPr lang="en-US" smtClean="0"/>
              <a:t>‹Nº›</a:t>
            </a:fld>
            <a:endParaRPr lang="en-US"/>
          </a:p>
        </p:txBody>
      </p:sp>
    </p:spTree>
    <p:extLst>
      <p:ext uri="{BB962C8B-B14F-4D97-AF65-F5344CB8AC3E}">
        <p14:creationId xmlns:p14="http://schemas.microsoft.com/office/powerpoint/2010/main" val="1991926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12" name="Right Tri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2" name="Title 1"/>
          <p:cNvSpPr>
            <a:spLocks noGrp="1"/>
          </p:cNvSpPr>
          <p:nvPr>
            <p:ph type="title"/>
          </p:nvPr>
        </p:nvSpPr>
        <p:spPr>
          <a:xfrm>
            <a:off x="812800" y="1176997"/>
            <a:ext cx="2950464"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812800" y="2828785"/>
            <a:ext cx="29464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Edit Master text styles</a:t>
            </a:r>
          </a:p>
        </p:txBody>
      </p:sp>
      <p:sp>
        <p:nvSpPr>
          <p:cNvPr id="5" name="Date Placeholder 4"/>
          <p:cNvSpPr>
            <a:spLocks noGrp="1"/>
          </p:cNvSpPr>
          <p:nvPr>
            <p:ph type="dt" sz="half" idx="10"/>
          </p:nvPr>
        </p:nvSpPr>
        <p:spPr/>
        <p:txBody>
          <a:bodyPr/>
          <a:lstStyle/>
          <a:p>
            <a:fld id="{1359EFBB-CFA1-4AA8-9123-F0B52DBD84FE}" type="datetime1">
              <a:rPr lang="en-US" smtClean="0"/>
              <a:t>5/21/2026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a:xfrm>
            <a:off x="10769600" y="6356351"/>
            <a:ext cx="812800" cy="365125"/>
          </a:xfrm>
        </p:spPr>
        <p:txBody>
          <a:bodyPr/>
          <a:lstStyle/>
          <a:p>
            <a:fld id="{401CF334-2D5C-4859-84A6-CA7E6E43FAEB}" type="slidenum">
              <a:rPr lang="en-US" smtClean="0"/>
              <a:t>‹Nº›</a:t>
            </a:fld>
            <a:endParaRPr lang="en-US"/>
          </a:p>
        </p:txBody>
      </p:sp>
      <p:sp>
        <p:nvSpPr>
          <p:cNvPr id="10" name="Freeform 9"/>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sz="1800">
              <a:solidFill>
                <a:schemeClr val="tx1"/>
              </a:solidFill>
              <a:latin typeface="+mn-lt"/>
              <a:ea typeface="+mn-ea"/>
              <a:cs typeface="+mn-cs"/>
            </a:endParaRPr>
          </a:p>
        </p:txBody>
      </p:sp>
      <p:sp>
        <p:nvSpPr>
          <p:cNvPr id="11" name="Freeform 10"/>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sz="1800">
              <a:solidFill>
                <a:schemeClr val="tx1"/>
              </a:solidFill>
              <a:latin typeface="+mn-lt"/>
              <a:ea typeface="+mn-ea"/>
              <a:cs typeface="+mn-cs"/>
            </a:endParaRPr>
          </a:p>
        </p:txBody>
      </p:sp>
    </p:spTree>
    <p:extLst>
      <p:ext uri="{BB962C8B-B14F-4D97-AF65-F5344CB8AC3E}">
        <p14:creationId xmlns:p14="http://schemas.microsoft.com/office/powerpoint/2010/main" val="2519624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D2D5871-AB0F-4B3D-8861-97E78CB7B47E}" type="datetime1">
              <a:rPr lang="en-US" smtClean="0"/>
              <a:t>5/21/2026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401CF334-2D5C-4859-84A6-CA7E6E43FAEB}" type="slidenum">
              <a:rPr lang="en-US" smtClean="0"/>
              <a:t>‹Nº›</a:t>
            </a:fld>
            <a:endParaRPr lang="en-US"/>
          </a:p>
        </p:txBody>
      </p:sp>
    </p:spTree>
    <p:extLst>
      <p:ext uri="{BB962C8B-B14F-4D97-AF65-F5344CB8AC3E}">
        <p14:creationId xmlns:p14="http://schemas.microsoft.com/office/powerpoint/2010/main" val="877777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914402"/>
            <a:ext cx="8026400" cy="5211763"/>
          </a:xfrm>
        </p:spPr>
        <p:txBody>
          <a:bodyPr vert="eaVer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4418406-4C3F-4F3E-80BD-A22568EA37EB}" type="datetime1">
              <a:rPr lang="en-US" smtClean="0"/>
              <a:t>5/21/2026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401CF334-2D5C-4859-84A6-CA7E6E43FAEB}" type="slidenum">
              <a:rPr lang="en-US" smtClean="0"/>
              <a:t>‹Nº›</a:t>
            </a:fld>
            <a:endParaRPr lang="en-US"/>
          </a:p>
        </p:txBody>
      </p:sp>
    </p:spTree>
    <p:extLst>
      <p:ext uri="{BB962C8B-B14F-4D97-AF65-F5344CB8AC3E}">
        <p14:creationId xmlns:p14="http://schemas.microsoft.com/office/powerpoint/2010/main" val="3369754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25" name="Group 24"/>
          <p:cNvGrpSpPr/>
          <p:nvPr/>
        </p:nvGrpSpPr>
        <p:grpSpPr>
          <a:xfrm>
            <a:off x="-29028" y="-7144"/>
            <a:ext cx="12240731" cy="6879658"/>
            <a:chOff x="0" y="-21658"/>
            <a:chExt cx="12240731" cy="6879658"/>
          </a:xfrm>
        </p:grpSpPr>
        <p:sp>
          <p:nvSpPr>
            <p:cNvPr id="26" name="Rectangle 25"/>
            <p:cNvSpPr/>
            <p:nvPr/>
          </p:nvSpPr>
          <p:spPr>
            <a:xfrm>
              <a:off x="31633"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p:cNvGrpSpPr/>
            <p:nvPr/>
          </p:nvGrpSpPr>
          <p:grpSpPr>
            <a:xfrm>
              <a:off x="0" y="-21658"/>
              <a:ext cx="12240731" cy="1041400"/>
              <a:chOff x="-25356" y="-7144"/>
              <a:chExt cx="12240731" cy="1041400"/>
            </a:xfrm>
          </p:grpSpPr>
          <p:sp>
            <p:nvSpPr>
              <p:cNvPr id="28" name="Freeform 27"/>
              <p:cNvSpPr>
                <a:spLocks/>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sz="1800">
                  <a:solidFill>
                    <a:schemeClr val="tx1"/>
                  </a:solidFill>
                  <a:latin typeface="+mn-lt"/>
                  <a:ea typeface="+mn-ea"/>
                  <a:cs typeface="+mn-cs"/>
                </a:endParaRPr>
              </a:p>
            </p:txBody>
          </p:sp>
          <p:sp>
            <p:nvSpPr>
              <p:cNvPr id="29" name="Freeform 28"/>
              <p:cNvSpPr>
                <a:spLocks/>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sz="1800">
                  <a:solidFill>
                    <a:schemeClr val="tx1"/>
                  </a:solidFill>
                  <a:latin typeface="+mn-lt"/>
                  <a:ea typeface="+mn-ea"/>
                  <a:cs typeface="+mn-cs"/>
                </a:endParaRPr>
              </a:p>
            </p:txBody>
          </p:sp>
          <p:grpSp>
            <p:nvGrpSpPr>
              <p:cNvPr id="31" name="Group 30"/>
              <p:cNvGrpSpPr/>
              <p:nvPr/>
            </p:nvGrpSpPr>
            <p:grpSpPr>
              <a:xfrm>
                <a:off x="-25356" y="202408"/>
                <a:ext cx="12240731" cy="649224"/>
                <a:chOff x="-19045" y="216550"/>
                <a:chExt cx="9180548" cy="649224"/>
              </a:xfrm>
            </p:grpSpPr>
            <p:sp>
              <p:nvSpPr>
                <p:cNvPr id="32" name="Freeform 3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33" name="Freeform 3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sz="1800"/>
                </a:p>
              </p:txBody>
            </p:sp>
          </p:grpSp>
        </p:grpSp>
      </p:grpSp>
      <p:sp>
        <p:nvSpPr>
          <p:cNvPr id="9" name="Title Placeholder 8"/>
          <p:cNvSpPr>
            <a:spLocks noGrp="1"/>
          </p:cNvSpPr>
          <p:nvPr>
            <p:ph type="title"/>
          </p:nvPr>
        </p:nvSpPr>
        <p:spPr>
          <a:xfrm>
            <a:off x="609600" y="704088"/>
            <a:ext cx="10972800" cy="1143000"/>
          </a:xfrm>
          <a:prstGeom prst="rect">
            <a:avLst/>
          </a:prstGeom>
        </p:spPr>
        <p:txBody>
          <a:bodyPr vert="horz" lIns="0" rIns="0" bIns="0" anchor="b">
            <a:normAutofit/>
          </a:bodyPr>
          <a:lstStyle/>
          <a:p>
            <a:r>
              <a:rPr kumimoji="0" lang="en-US"/>
              <a:t>Click to edit Master title style</a:t>
            </a:r>
            <a:endParaRPr kumimoji="0" lang="en-US" dirty="0"/>
          </a:p>
        </p:txBody>
      </p:sp>
      <p:sp>
        <p:nvSpPr>
          <p:cNvPr id="30" name="Text Placeholder 29"/>
          <p:cNvSpPr>
            <a:spLocks noGrp="1"/>
          </p:cNvSpPr>
          <p:nvPr>
            <p:ph type="body" idx="1"/>
          </p:nvPr>
        </p:nvSpPr>
        <p:spPr>
          <a:xfrm>
            <a:off x="609600" y="1935480"/>
            <a:ext cx="10972800" cy="4389120"/>
          </a:xfrm>
          <a:prstGeom prst="rect">
            <a:avLst/>
          </a:prstGeom>
        </p:spPr>
        <p:txBody>
          <a:bodyPr vert="horz">
            <a:normAutofit/>
          </a:bodyPr>
          <a:lstStyle/>
          <a:p>
            <a:pPr lvl="0" eaLnBrk="1" latinLnBrk="0" hangingPunct="1"/>
            <a:r>
              <a:rPr kumimoji="0" lang="en-US"/>
              <a:t>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endParaRPr kumimoji="0" lang="en-US" dirty="0"/>
          </a:p>
        </p:txBody>
      </p:sp>
      <p:sp>
        <p:nvSpPr>
          <p:cNvPr id="10" name="Date Placeholder 9"/>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100">
                <a:solidFill>
                  <a:schemeClr val="tx1"/>
                </a:solidFill>
              </a:defRPr>
            </a:lvl1pPr>
          </a:lstStyle>
          <a:p>
            <a:fld id="{61146459-E3C3-4969-9224-5ED50B492D17}" type="datetime1">
              <a:rPr lang="en-US" smtClean="0"/>
              <a:pPr/>
              <a:t>5/21/2026</a:t>
            </a:fld>
            <a:endParaRPr lang="en-US" dirty="0"/>
          </a:p>
        </p:txBody>
      </p:sp>
      <p:sp>
        <p:nvSpPr>
          <p:cNvPr id="22" name="Footer Placeholder 21"/>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100">
                <a:solidFill>
                  <a:schemeClr val="tx1"/>
                </a:solidFill>
              </a:defRPr>
            </a:lvl1pPr>
          </a:lstStyle>
          <a:p>
            <a:r>
              <a:rPr lang="en-US" dirty="0"/>
              <a:t>Add a footer</a:t>
            </a:r>
          </a:p>
        </p:txBody>
      </p:sp>
      <p:sp>
        <p:nvSpPr>
          <p:cNvPr id="18" name="Slide Number Placeholder 17"/>
          <p:cNvSpPr>
            <a:spLocks noGrp="1"/>
          </p:cNvSpPr>
          <p:nvPr>
            <p:ph type="sldNum" sz="quarter" idx="4"/>
          </p:nvPr>
        </p:nvSpPr>
        <p:spPr>
          <a:xfrm>
            <a:off x="10566400" y="6356351"/>
            <a:ext cx="1016000" cy="365125"/>
          </a:xfrm>
          <a:prstGeom prst="rect">
            <a:avLst/>
          </a:prstGeom>
        </p:spPr>
        <p:txBody>
          <a:bodyPr vert="horz" lIns="0" tIns="0" rIns="0" bIns="0" anchor="b"/>
          <a:lstStyle>
            <a:lvl1pPr algn="r" eaLnBrk="1" latinLnBrk="0" hangingPunct="1">
              <a:defRPr kumimoji="0" sz="1100">
                <a:solidFill>
                  <a:schemeClr val="tx1"/>
                </a:solidFill>
              </a:defRPr>
            </a:lvl1pPr>
          </a:lstStyle>
          <a:p>
            <a:fld id="{401CF334-2D5C-4859-84A6-CA7E6E43FAEB}" type="slidenum">
              <a:rPr lang="en-US" smtClean="0"/>
              <a:pPr/>
              <a:t>‹Nº›</a:t>
            </a:fld>
            <a:endParaRPr lang="en-US"/>
          </a:p>
        </p:txBody>
      </p:sp>
    </p:spTree>
    <p:extLst>
      <p:ext uri="{BB962C8B-B14F-4D97-AF65-F5344CB8AC3E}">
        <p14:creationId xmlns:p14="http://schemas.microsoft.com/office/powerpoint/2010/main" val="9428528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lumMod val="50000"/>
          </a:schemeClr>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lumMod val="50000"/>
          </a:schemeClr>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lumMod val="50000"/>
          </a:schemeClr>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lumMod val="50000"/>
          </a:schemeClr>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lumMod val="75000"/>
          </a:schemeClr>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lumMod val="50000"/>
          </a:schemeClr>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lumMod val="75000"/>
          </a:schemeClr>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286000" indent="0" algn="l" rtl="0" eaLnBrk="1" latinLnBrk="0" hangingPunct="1">
        <a:spcBef>
          <a:spcPct val="20000"/>
        </a:spcBef>
        <a:buClr>
          <a:schemeClr val="tx2"/>
        </a:buClr>
        <a:buFontTx/>
        <a:buNone/>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es.wikipedia.org/wiki/LISP" TargetMode="External"/><Relationship Id="rId13" Type="http://schemas.openxmlformats.org/officeDocument/2006/relationships/hyperlink" Target="https://es.wikipedia.org/wiki/Simula" TargetMode="External"/><Relationship Id="rId18" Type="http://schemas.openxmlformats.org/officeDocument/2006/relationships/hyperlink" Target="https://es.wikipedia.org/wiki/BCPL" TargetMode="External"/><Relationship Id="rId26" Type="http://schemas.openxmlformats.org/officeDocument/2006/relationships/hyperlink" Target="https://es.wikipedia.org/wiki/Prolog" TargetMode="External"/><Relationship Id="rId3" Type="http://schemas.openxmlformats.org/officeDocument/2006/relationships/hyperlink" Target="https://es.wikipedia.org/w/index.php?title=Autocode&amp;action=edit&amp;redlink=1" TargetMode="External"/><Relationship Id="rId21" Type="http://schemas.openxmlformats.org/officeDocument/2006/relationships/hyperlink" Target="https://es.wikipedia.org/wiki/B_(lenguaje_de_programaci%C3%B3n)" TargetMode="External"/><Relationship Id="rId7" Type="http://schemas.openxmlformats.org/officeDocument/2006/relationships/hyperlink" Target="https://es.wikipedia.org/w/index.php?title=COMTRAN&amp;action=edit&amp;redlink=1" TargetMode="External"/><Relationship Id="rId12" Type="http://schemas.openxmlformats.org/officeDocument/2006/relationships/hyperlink" Target="https://es.wikipedia.org/wiki/APL" TargetMode="External"/><Relationship Id="rId17" Type="http://schemas.openxmlformats.org/officeDocument/2006/relationships/hyperlink" Target="https://es.wikipedia.org/wiki/PL/I" TargetMode="External"/><Relationship Id="rId25" Type="http://schemas.openxmlformats.org/officeDocument/2006/relationships/hyperlink" Target="https://es.wikipedia.org/wiki/Smalltalk" TargetMode="External"/><Relationship Id="rId2" Type="http://schemas.openxmlformats.org/officeDocument/2006/relationships/hyperlink" Target="https://es.wikipedia.org/w/index.php?title=Regional_Assembly_Language&amp;action=edit&amp;redlink=1" TargetMode="External"/><Relationship Id="rId16" Type="http://schemas.openxmlformats.org/officeDocument/2006/relationships/hyperlink" Target="https://es.wikipedia.org/wiki/BASIC" TargetMode="External"/><Relationship Id="rId20" Type="http://schemas.openxmlformats.org/officeDocument/2006/relationships/hyperlink" Target="https://es.wikipedia.org/wiki/Logo_(lenguaje_de_programaci%C3%B3n)" TargetMode="External"/><Relationship Id="rId29" Type="http://schemas.openxmlformats.org/officeDocument/2006/relationships/hyperlink" Target="https://es.wikipedia.org/wiki/SQL" TargetMode="External"/><Relationship Id="rId1" Type="http://schemas.openxmlformats.org/officeDocument/2006/relationships/slideLayout" Target="../slideLayouts/slideLayout2.xml"/><Relationship Id="rId6" Type="http://schemas.openxmlformats.org/officeDocument/2006/relationships/hyperlink" Target="https://es.wikipedia.org/wiki/FORTRAN" TargetMode="External"/><Relationship Id="rId11" Type="http://schemas.openxmlformats.org/officeDocument/2006/relationships/hyperlink" Target="https://es.wikipedia.org/wiki/RPG_(lenguaje_de_programaci%C3%B3n)" TargetMode="External"/><Relationship Id="rId24" Type="http://schemas.openxmlformats.org/officeDocument/2006/relationships/hyperlink" Target="https://es.wikipedia.org/wiki/C_(lenguaje_de_programaci%C3%B3n)" TargetMode="External"/><Relationship Id="rId5" Type="http://schemas.openxmlformats.org/officeDocument/2006/relationships/hyperlink" Target="https://es.wikipedia.org/wiki/FLOW-MATIC" TargetMode="External"/><Relationship Id="rId15" Type="http://schemas.openxmlformats.org/officeDocument/2006/relationships/hyperlink" Target="https://es.wikipedia.org/wiki/Combined_Programming_Language" TargetMode="External"/><Relationship Id="rId23" Type="http://schemas.openxmlformats.org/officeDocument/2006/relationships/hyperlink" Target="https://es.wikipedia.org/wiki/Forth" TargetMode="External"/><Relationship Id="rId28" Type="http://schemas.openxmlformats.org/officeDocument/2006/relationships/hyperlink" Target="https://es.wikipedia.org/wiki/Scheme" TargetMode="External"/><Relationship Id="rId10" Type="http://schemas.openxmlformats.org/officeDocument/2006/relationships/hyperlink" Target="https://es.wikipedia.org/wiki/COBOL" TargetMode="External"/><Relationship Id="rId19" Type="http://schemas.openxmlformats.org/officeDocument/2006/relationships/hyperlink" Target="https://es.wikipedia.org/wiki/ALGOL_68" TargetMode="External"/><Relationship Id="rId4" Type="http://schemas.openxmlformats.org/officeDocument/2006/relationships/hyperlink" Target="https://es.wikipedia.org/wiki/IPL" TargetMode="External"/><Relationship Id="rId9" Type="http://schemas.openxmlformats.org/officeDocument/2006/relationships/hyperlink" Target="https://es.wikipedia.org/w/index.php?title=FACT_(lenguaje_de_programaci%C3%B3n)&amp;action=edit&amp;redlink=1" TargetMode="External"/><Relationship Id="rId14" Type="http://schemas.openxmlformats.org/officeDocument/2006/relationships/hyperlink" Target="https://es.wikipedia.org/wiki/SNOBOL" TargetMode="External"/><Relationship Id="rId22" Type="http://schemas.openxmlformats.org/officeDocument/2006/relationships/hyperlink" Target="https://es.wikipedia.org/wiki/Pascal_(lenguaje_de_programaci%C3%B3n)" TargetMode="External"/><Relationship Id="rId27" Type="http://schemas.openxmlformats.org/officeDocument/2006/relationships/hyperlink" Target="https://es.wikipedia.org/wiki/ML_(lenguaje_de_programaci%C3%B3n)" TargetMode="External"/><Relationship Id="rId30" Type="http://schemas.openxmlformats.org/officeDocument/2006/relationships/hyperlink" Target="https://es.wikipedia.org/wiki/Modula-2" TargetMode="External"/></Relationships>
</file>

<file path=ppt/slides/_rels/slide7.xml.rels><?xml version="1.0" encoding="UTF-8" standalone="yes"?>
<Relationships xmlns="http://schemas.openxmlformats.org/package/2006/relationships"><Relationship Id="rId8" Type="http://schemas.openxmlformats.org/officeDocument/2006/relationships/hyperlink" Target="https://es.wikipedia.org/wiki/Lenguaje_de_programaci%C3%B3n_Erlang" TargetMode="External"/><Relationship Id="rId13" Type="http://schemas.openxmlformats.org/officeDocument/2006/relationships/hyperlink" Target="https://es.wikipedia.org/wiki/Haskell" TargetMode="External"/><Relationship Id="rId18" Type="http://schemas.openxmlformats.org/officeDocument/2006/relationships/hyperlink" Target="https://es.wikipedia.org/wiki/Lua" TargetMode="External"/><Relationship Id="rId26" Type="http://schemas.openxmlformats.org/officeDocument/2006/relationships/hyperlink" Target="https://es.wikipedia.org/wiki/D_(lenguaje_de_programaci%C3%B3n)" TargetMode="External"/><Relationship Id="rId3" Type="http://schemas.openxmlformats.org/officeDocument/2006/relationships/hyperlink" Target="https://es.wikipedia.org/wiki/Ada_(lenguaje_de_programaci%C3%B3n)" TargetMode="External"/><Relationship Id="rId21" Type="http://schemas.openxmlformats.org/officeDocument/2006/relationships/hyperlink" Target="https://es.wikipedia.org/wiki/Embarcadero_Delphi" TargetMode="External"/><Relationship Id="rId7" Type="http://schemas.openxmlformats.org/officeDocument/2006/relationships/hyperlink" Target="https://es.wikipedia.org/wiki/Objective-C" TargetMode="External"/><Relationship Id="rId12" Type="http://schemas.openxmlformats.org/officeDocument/2006/relationships/hyperlink" Target="https://es.wikipedia.org/w/index.php?title=FL_(lenguaje_de_programaci%C3%B3n)&amp;action=edit&amp;redlink=1" TargetMode="External"/><Relationship Id="rId17" Type="http://schemas.openxmlformats.org/officeDocument/2006/relationships/hyperlink" Target="https://es.wikipedia.org/wiki/Ruby" TargetMode="External"/><Relationship Id="rId25" Type="http://schemas.openxmlformats.org/officeDocument/2006/relationships/hyperlink" Target="https://es.wikipedia.org/w/index.php?title=Rebol&amp;action=edit&amp;redlink=1" TargetMode="External"/><Relationship Id="rId2" Type="http://schemas.openxmlformats.org/officeDocument/2006/relationships/hyperlink" Target="https://es.wikipedia.org/wiki/C%2B%2B" TargetMode="External"/><Relationship Id="rId16" Type="http://schemas.openxmlformats.org/officeDocument/2006/relationships/hyperlink" Target="https://es.wikipedia.org/wiki/HTML" TargetMode="External"/><Relationship Id="rId20" Type="http://schemas.openxmlformats.org/officeDocument/2006/relationships/hyperlink" Target="https://es.wikipedia.org/wiki/Java_(lenguaje_de_programaci%C3%B3n)" TargetMode="External"/><Relationship Id="rId1" Type="http://schemas.openxmlformats.org/officeDocument/2006/relationships/slideLayout" Target="../slideLayouts/slideLayout2.xml"/><Relationship Id="rId6" Type="http://schemas.openxmlformats.org/officeDocument/2006/relationships/hyperlink" Target="https://es.wikipedia.org/wiki/Eiffel_(lenguaje_de_programaci%C3%B3n)" TargetMode="External"/><Relationship Id="rId11" Type="http://schemas.openxmlformats.org/officeDocument/2006/relationships/hyperlink" Target="https://es.wikipedia.org/wiki/Mathematica" TargetMode="External"/><Relationship Id="rId24" Type="http://schemas.openxmlformats.org/officeDocument/2006/relationships/hyperlink" Target="https://es.wikipedia.org/w/index.php?title=WebDNA&amp;action=edit&amp;redlink=1" TargetMode="External"/><Relationship Id="rId5" Type="http://schemas.openxmlformats.org/officeDocument/2006/relationships/hyperlink" Target="https://es.wikipedia.org/wiki/MATLAB" TargetMode="External"/><Relationship Id="rId15" Type="http://schemas.openxmlformats.org/officeDocument/2006/relationships/hyperlink" Target="https://es.wikipedia.org/wiki/Visual_Basic" TargetMode="External"/><Relationship Id="rId23" Type="http://schemas.openxmlformats.org/officeDocument/2006/relationships/hyperlink" Target="https://es.wikipedia.org/wiki/PHP" TargetMode="External"/><Relationship Id="rId10" Type="http://schemas.openxmlformats.org/officeDocument/2006/relationships/hyperlink" Target="https://es.wikipedia.org/wiki/Tcl" TargetMode="External"/><Relationship Id="rId19" Type="http://schemas.openxmlformats.org/officeDocument/2006/relationships/hyperlink" Target="https://es.wikipedia.org/wiki/CLOS" TargetMode="External"/><Relationship Id="rId4" Type="http://schemas.openxmlformats.org/officeDocument/2006/relationships/hyperlink" Target="https://es.wikipedia.org/wiki/Common_Lisp" TargetMode="External"/><Relationship Id="rId9" Type="http://schemas.openxmlformats.org/officeDocument/2006/relationships/hyperlink" Target="https://es.wikipedia.org/wiki/Perl" TargetMode="External"/><Relationship Id="rId14" Type="http://schemas.openxmlformats.org/officeDocument/2006/relationships/hyperlink" Target="https://es.wikipedia.org/wiki/Python" TargetMode="External"/><Relationship Id="rId22" Type="http://schemas.openxmlformats.org/officeDocument/2006/relationships/hyperlink" Target="https://es.wikipedia.org/wiki/JavaScript"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es.wikipedia.org/w/index.php?title=Factor_(lenguaje_de_programaci%C3%B3n)&amp;action=edit&amp;redlink=1" TargetMode="External"/><Relationship Id="rId13" Type="http://schemas.openxmlformats.org/officeDocument/2006/relationships/hyperlink" Target="https://es.wikipedia.org/wiki/Swift_(lenguaje_de_programaci%C3%B3n)" TargetMode="External"/><Relationship Id="rId3" Type="http://schemas.openxmlformats.org/officeDocument/2006/relationships/hyperlink" Target="https://es.wikipedia.org/wiki/C_Sharp" TargetMode="External"/><Relationship Id="rId7" Type="http://schemas.openxmlformats.org/officeDocument/2006/relationships/hyperlink" Target="https://es.wikipedia.org/wiki/Scala_(lenguaje_de_programaci%C3%B3n)" TargetMode="External"/><Relationship Id="rId12" Type="http://schemas.openxmlformats.org/officeDocument/2006/relationships/hyperlink" Target="https://es.wikipedia.org/wiki/Dart" TargetMode="External"/><Relationship Id="rId2" Type="http://schemas.openxmlformats.org/officeDocument/2006/relationships/hyperlink" Target="https://es.wikipedia.org/wiki/ActionScript" TargetMode="External"/><Relationship Id="rId1" Type="http://schemas.openxmlformats.org/officeDocument/2006/relationships/slideLayout" Target="../slideLayouts/slideLayout2.xml"/><Relationship Id="rId6" Type="http://schemas.openxmlformats.org/officeDocument/2006/relationships/hyperlink" Target="https://es.wikipedia.org/wiki/Groovy_(lenguaje_de_programaci%C3%B3n)" TargetMode="External"/><Relationship Id="rId11" Type="http://schemas.openxmlformats.org/officeDocument/2006/relationships/hyperlink" Target="https://es.wikipedia.org/wiki/Go_(lenguaje_de_programaci%C3%B3n)" TargetMode="External"/><Relationship Id="rId5" Type="http://schemas.openxmlformats.org/officeDocument/2006/relationships/hyperlink" Target="https://es.wikipedia.org/wiki/F_Sharp" TargetMode="External"/><Relationship Id="rId10" Type="http://schemas.openxmlformats.org/officeDocument/2006/relationships/hyperlink" Target="https://es.wikipedia.org/wiki/Clojure" TargetMode="External"/><Relationship Id="rId4" Type="http://schemas.openxmlformats.org/officeDocument/2006/relationships/hyperlink" Target="https://es.wikipedia.org/wiki/Visual_Basic_.NET" TargetMode="External"/><Relationship Id="rId9" Type="http://schemas.openxmlformats.org/officeDocument/2006/relationships/hyperlink" Target="https://es.wikipedia.org/wiki/Scratch_(lenguaje_de_programaci%C3%B3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r>
              <a:rPr lang="es-ES" sz="3600" dirty="0"/>
              <a:t>Historia de los Lenguajes de Programación</a:t>
            </a:r>
            <a:endParaRPr lang="en-US" sz="3600" dirty="0"/>
          </a:p>
        </p:txBody>
      </p:sp>
      <p:sp>
        <p:nvSpPr>
          <p:cNvPr id="5" name="Subtitle 4"/>
          <p:cNvSpPr>
            <a:spLocks noGrp="1"/>
          </p:cNvSpPr>
          <p:nvPr>
            <p:ph type="subTitle" idx="1"/>
          </p:nvPr>
        </p:nvSpPr>
        <p:spPr/>
        <p:txBody>
          <a:bodyPr/>
          <a:lstStyle/>
          <a:p>
            <a:r>
              <a:rPr lang="en-US" dirty="0"/>
              <a:t>Alexander Benjamin</a:t>
            </a:r>
          </a:p>
          <a:p>
            <a:endParaRPr lang="en-US" dirty="0"/>
          </a:p>
        </p:txBody>
      </p:sp>
    </p:spTree>
    <p:extLst>
      <p:ext uri="{BB962C8B-B14F-4D97-AF65-F5344CB8AC3E}">
        <p14:creationId xmlns:p14="http://schemas.microsoft.com/office/powerpoint/2010/main" val="3549628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Vista General</a:t>
            </a:r>
          </a:p>
        </p:txBody>
      </p:sp>
      <p:sp>
        <p:nvSpPr>
          <p:cNvPr id="2" name="Content Placeholder 1"/>
          <p:cNvSpPr>
            <a:spLocks noGrp="1"/>
          </p:cNvSpPr>
          <p:nvPr>
            <p:ph idx="1"/>
          </p:nvPr>
        </p:nvSpPr>
        <p:spPr/>
        <p:txBody>
          <a:bodyPr/>
          <a:lstStyle/>
          <a:p>
            <a:r>
              <a:rPr lang="es-ES" dirty="0"/>
              <a:t>Los ordenadores son uno más de los inventos del hombre, aunque debemos decir que las tecnologías para su fabricación y explotación han tenido un desarrollo sorprendente a partir de la segunda mitad del siglo XX</a:t>
            </a:r>
          </a:p>
          <a:p>
            <a:r>
              <a:rPr lang="es-ES" dirty="0"/>
              <a:t>El problema entonces, se puede fijar en ¿cómo vamos a poder hacer que un conjunto de circuitos desempeñen una determinada tarea y nos entreguen los resultados que nosotros esperamos?, es decir, ¿de qué manera se puede lograr la comunicación entre el hombre y el ordenador?. </a:t>
            </a:r>
            <a:endParaRPr lang="en-US" dirty="0"/>
          </a:p>
        </p:txBody>
      </p:sp>
    </p:spTree>
    <p:extLst>
      <p:ext uri="{BB962C8B-B14F-4D97-AF65-F5344CB8AC3E}">
        <p14:creationId xmlns:p14="http://schemas.microsoft.com/office/powerpoint/2010/main" val="3339554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HISTORIA</a:t>
            </a:r>
          </a:p>
        </p:txBody>
      </p:sp>
      <p:sp>
        <p:nvSpPr>
          <p:cNvPr id="3" name="Content Placeholder 2"/>
          <p:cNvSpPr>
            <a:spLocks noGrp="1"/>
          </p:cNvSpPr>
          <p:nvPr>
            <p:ph idx="1"/>
          </p:nvPr>
        </p:nvSpPr>
        <p:spPr/>
        <p:txBody>
          <a:bodyPr/>
          <a:lstStyle/>
          <a:p>
            <a:r>
              <a:rPr lang="es-ES" dirty="0"/>
              <a:t>1946: Konrad </a:t>
            </a:r>
            <a:r>
              <a:rPr lang="es-ES" dirty="0" err="1"/>
              <a:t>Zuse</a:t>
            </a:r>
            <a:r>
              <a:rPr lang="es-ES" dirty="0"/>
              <a:t> , un ingeniero Alemán mientras trabajaba en los Alpes de Bavaria, desarrolló el lenguaje </a:t>
            </a:r>
            <a:r>
              <a:rPr lang="es-ES" dirty="0" err="1"/>
              <a:t>Plankalkul</a:t>
            </a:r>
            <a:r>
              <a:rPr lang="es-ES" dirty="0"/>
              <a:t>, el cual, fue aplicado entre otras cosas para jugar al ajedrez. </a:t>
            </a:r>
          </a:p>
          <a:p>
            <a:r>
              <a:rPr lang="es-ES" dirty="0"/>
              <a:t>1949: Aparece Short </a:t>
            </a:r>
            <a:r>
              <a:rPr lang="es-ES" dirty="0" err="1"/>
              <a:t>Code</a:t>
            </a:r>
            <a:r>
              <a:rPr lang="es-ES" dirty="0"/>
              <a:t>, que viene a ser el primer lenguaje que fue usado en un dispositivo de cómputo electrónico, aunque se debe decir que se trata de un lenguaje traducido a mano. </a:t>
            </a:r>
          </a:p>
          <a:p>
            <a:r>
              <a:rPr lang="es-ES" dirty="0"/>
              <a:t>1951: Grace Hopper , trabajando para Remington Rand, comenzó el trabajo de diseño del primer compilador conocido ampliamente, el A-0, el cual, al ser liberado por la compañía en 1957, lo hizo con el nombre de MATH-MATIC. </a:t>
            </a:r>
            <a:endParaRPr lang="en-US" dirty="0"/>
          </a:p>
        </p:txBody>
      </p:sp>
    </p:spTree>
    <p:extLst>
      <p:ext uri="{BB962C8B-B14F-4D97-AF65-F5344CB8AC3E}">
        <p14:creationId xmlns:p14="http://schemas.microsoft.com/office/powerpoint/2010/main" val="1919010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HISTORIA</a:t>
            </a:r>
          </a:p>
        </p:txBody>
      </p:sp>
      <p:sp>
        <p:nvSpPr>
          <p:cNvPr id="3" name="Content Placeholder 2"/>
          <p:cNvSpPr>
            <a:spLocks noGrp="1"/>
          </p:cNvSpPr>
          <p:nvPr>
            <p:ph idx="1"/>
          </p:nvPr>
        </p:nvSpPr>
        <p:spPr/>
        <p:txBody>
          <a:bodyPr/>
          <a:lstStyle/>
          <a:p>
            <a:r>
              <a:rPr lang="es-ES" dirty="0"/>
              <a:t>1952: </a:t>
            </a:r>
            <a:r>
              <a:rPr lang="es-ES" dirty="0" err="1"/>
              <a:t>Alick</a:t>
            </a:r>
            <a:r>
              <a:rPr lang="es-ES" dirty="0"/>
              <a:t> E. </a:t>
            </a:r>
            <a:r>
              <a:rPr lang="es-ES" dirty="0" err="1"/>
              <a:t>Glennie</a:t>
            </a:r>
            <a:r>
              <a:rPr lang="es-ES" dirty="0"/>
              <a:t>, durante su tiempo libre en la Universidad de Manchester, concibe un sistema de programación llamado AUTOCODE, que viene a ser un compilador muy rudimentario.</a:t>
            </a:r>
          </a:p>
          <a:p>
            <a:r>
              <a:rPr lang="es-ES" dirty="0"/>
              <a:t>1957: aparece FORTRAN (</a:t>
            </a:r>
            <a:r>
              <a:rPr lang="es-ES" dirty="0" err="1"/>
              <a:t>FORmula</a:t>
            </a:r>
            <a:r>
              <a:rPr lang="es-ES" dirty="0"/>
              <a:t> </a:t>
            </a:r>
            <a:r>
              <a:rPr lang="es-ES" dirty="0" err="1"/>
              <a:t>TRANslating</a:t>
            </a:r>
            <a:r>
              <a:rPr lang="es-ES" dirty="0"/>
              <a:t>) sistema traductor de fórmulas matemáticas. Fue desarrollado por un equipo, al frente del cual se encontraba John Backus quien después vendría a contribuir en el desarrollo del compilador para el lenguaje ALGOL y de la notación usada para la especificación sintáctica de los lenguajes, conocida como BNF (Backus Naur </a:t>
            </a:r>
            <a:r>
              <a:rPr lang="es-ES" dirty="0" err="1"/>
              <a:t>Form</a:t>
            </a:r>
            <a:r>
              <a:rPr lang="es-ES" dirty="0"/>
              <a:t>)</a:t>
            </a:r>
            <a:endParaRPr lang="en-US" dirty="0"/>
          </a:p>
        </p:txBody>
      </p:sp>
    </p:spTree>
    <p:extLst>
      <p:ext uri="{BB962C8B-B14F-4D97-AF65-F5344CB8AC3E}">
        <p14:creationId xmlns:p14="http://schemas.microsoft.com/office/powerpoint/2010/main" val="3742173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FORTRAN</a:t>
            </a:r>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397362" y="2558682"/>
            <a:ext cx="5942777" cy="2681228"/>
          </a:xfrm>
          <a:prstGeom prst="rect">
            <a:avLst/>
          </a:prstGeom>
        </p:spPr>
      </p:pic>
      <p:pic>
        <p:nvPicPr>
          <p:cNvPr id="5" name="Picture 4"/>
          <p:cNvPicPr>
            <a:picLocks noChangeAspect="1"/>
          </p:cNvPicPr>
          <p:nvPr/>
        </p:nvPicPr>
        <p:blipFill>
          <a:blip r:embed="rId3"/>
          <a:stretch>
            <a:fillRect/>
          </a:stretch>
        </p:blipFill>
        <p:spPr>
          <a:xfrm>
            <a:off x="6635381" y="1935480"/>
            <a:ext cx="4580481" cy="3607021"/>
          </a:xfrm>
          <a:prstGeom prst="rect">
            <a:avLst/>
          </a:prstGeom>
        </p:spPr>
      </p:pic>
    </p:spTree>
    <p:extLst>
      <p:ext uri="{BB962C8B-B14F-4D97-AF65-F5344CB8AC3E}">
        <p14:creationId xmlns:p14="http://schemas.microsoft.com/office/powerpoint/2010/main" val="2859791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1950 y 1960             1968-1979</a:t>
            </a:r>
          </a:p>
        </p:txBody>
      </p:sp>
      <p:sp>
        <p:nvSpPr>
          <p:cNvPr id="3" name="Content Placeholder 2"/>
          <p:cNvSpPr>
            <a:spLocks noGrp="1"/>
          </p:cNvSpPr>
          <p:nvPr>
            <p:ph idx="1"/>
          </p:nvPr>
        </p:nvSpPr>
        <p:spPr>
          <a:xfrm>
            <a:off x="757644" y="2102250"/>
            <a:ext cx="3971110" cy="4350801"/>
          </a:xfrm>
        </p:spPr>
        <p:txBody>
          <a:bodyPr>
            <a:normAutofit fontScale="55000" lnSpcReduction="20000"/>
          </a:bodyPr>
          <a:lstStyle/>
          <a:p>
            <a:r>
              <a:rPr lang="en-US" dirty="0"/>
              <a:t>1951 - </a:t>
            </a:r>
            <a:r>
              <a:rPr lang="en-US" dirty="0">
                <a:hlinkClick r:id="rId2" tooltip="Regional Assembly Language (aún no redactado)"/>
              </a:rPr>
              <a:t>Regional Assembly Language</a:t>
            </a:r>
            <a:endParaRPr lang="en-US" dirty="0"/>
          </a:p>
          <a:p>
            <a:r>
              <a:rPr lang="en-US" dirty="0"/>
              <a:t>1952 - </a:t>
            </a:r>
            <a:r>
              <a:rPr lang="en-US" u="sng" dirty="0" err="1">
                <a:hlinkClick r:id="rId3" tooltip="Autocode (aún no redactado)"/>
              </a:rPr>
              <a:t>Autocode</a:t>
            </a:r>
            <a:endParaRPr lang="en-US" dirty="0"/>
          </a:p>
          <a:p>
            <a:r>
              <a:rPr lang="en-US" dirty="0"/>
              <a:t>1954 - </a:t>
            </a:r>
            <a:r>
              <a:rPr lang="en-US" dirty="0">
                <a:hlinkClick r:id="rId4" tooltip="IPL"/>
              </a:rPr>
              <a:t>IPL</a:t>
            </a:r>
            <a:r>
              <a:rPr lang="en-US" dirty="0"/>
              <a:t> (precursor de LISP)</a:t>
            </a:r>
          </a:p>
          <a:p>
            <a:r>
              <a:rPr lang="en-US" dirty="0"/>
              <a:t>1955 - </a:t>
            </a:r>
            <a:r>
              <a:rPr lang="en-US" dirty="0">
                <a:hlinkClick r:id="rId5" tooltip="FLOW-MATIC"/>
              </a:rPr>
              <a:t>FLOW-MATIC</a:t>
            </a:r>
            <a:r>
              <a:rPr lang="en-US" dirty="0"/>
              <a:t> (precursor de COBOL)</a:t>
            </a:r>
          </a:p>
          <a:p>
            <a:r>
              <a:rPr lang="en-US" dirty="0"/>
              <a:t>1957 - </a:t>
            </a:r>
            <a:r>
              <a:rPr lang="en-US" dirty="0">
                <a:hlinkClick r:id="rId6" tooltip="FORTRAN"/>
              </a:rPr>
              <a:t>FORTRAN</a:t>
            </a:r>
            <a:r>
              <a:rPr lang="en-US" dirty="0"/>
              <a:t> (primer </a:t>
            </a:r>
            <a:r>
              <a:rPr lang="en-US" dirty="0" err="1"/>
              <a:t>compilador</a:t>
            </a:r>
            <a:r>
              <a:rPr lang="en-US" dirty="0"/>
              <a:t>)</a:t>
            </a:r>
          </a:p>
          <a:p>
            <a:r>
              <a:rPr lang="en-US" dirty="0"/>
              <a:t>1957 - </a:t>
            </a:r>
            <a:r>
              <a:rPr lang="en-US" dirty="0">
                <a:hlinkClick r:id="rId7" tooltip="COMTRAN (aún no redactado)"/>
              </a:rPr>
              <a:t>COMTRAN</a:t>
            </a:r>
            <a:r>
              <a:rPr lang="en-US" dirty="0"/>
              <a:t> (precursor de COBOL)</a:t>
            </a:r>
          </a:p>
          <a:p>
            <a:r>
              <a:rPr lang="en-US" dirty="0"/>
              <a:t>1958 - </a:t>
            </a:r>
            <a:r>
              <a:rPr lang="en-US" dirty="0">
                <a:hlinkClick r:id="rId8" tooltip="LISP"/>
              </a:rPr>
              <a:t>LISP</a:t>
            </a:r>
            <a:endParaRPr lang="en-US" dirty="0"/>
          </a:p>
          <a:p>
            <a:r>
              <a:rPr lang="en-US" dirty="0"/>
              <a:t>1959 - </a:t>
            </a:r>
            <a:r>
              <a:rPr lang="en-US" dirty="0">
                <a:hlinkClick r:id="rId9" tooltip="FACT (lenguaje de programación) (aún no redactado)"/>
              </a:rPr>
              <a:t>FACT</a:t>
            </a:r>
            <a:r>
              <a:rPr lang="en-US" dirty="0"/>
              <a:t> (precursor de COBOL)</a:t>
            </a:r>
          </a:p>
          <a:p>
            <a:r>
              <a:rPr lang="en-US" dirty="0"/>
              <a:t>1959 - </a:t>
            </a:r>
            <a:r>
              <a:rPr lang="en-US" dirty="0">
                <a:hlinkClick r:id="rId10" tooltip="COBOL"/>
              </a:rPr>
              <a:t>COBOL</a:t>
            </a:r>
            <a:endParaRPr lang="en-US" dirty="0"/>
          </a:p>
          <a:p>
            <a:r>
              <a:rPr lang="en-US" dirty="0"/>
              <a:t>1959 - </a:t>
            </a:r>
            <a:r>
              <a:rPr lang="en-US" dirty="0">
                <a:hlinkClick r:id="rId11" tooltip="RPG (lenguaje de programación)"/>
              </a:rPr>
              <a:t>RPG</a:t>
            </a:r>
            <a:endParaRPr lang="en-US" dirty="0"/>
          </a:p>
          <a:p>
            <a:r>
              <a:rPr lang="en-US" dirty="0"/>
              <a:t>1962 - </a:t>
            </a:r>
            <a:r>
              <a:rPr lang="en-US" dirty="0">
                <a:hlinkClick r:id="rId12" tooltip="APL"/>
              </a:rPr>
              <a:t>APL</a:t>
            </a:r>
            <a:endParaRPr lang="en-US" dirty="0"/>
          </a:p>
          <a:p>
            <a:r>
              <a:rPr lang="en-US" dirty="0"/>
              <a:t>1962 - </a:t>
            </a:r>
            <a:r>
              <a:rPr lang="en-US" dirty="0" err="1">
                <a:hlinkClick r:id="rId13" tooltip="Simula"/>
              </a:rPr>
              <a:t>Simula</a:t>
            </a:r>
            <a:endParaRPr lang="en-US" dirty="0"/>
          </a:p>
          <a:p>
            <a:r>
              <a:rPr lang="en-US" dirty="0"/>
              <a:t>1962 - </a:t>
            </a:r>
            <a:r>
              <a:rPr lang="en-US" dirty="0">
                <a:hlinkClick r:id="rId14" tooltip="SNOBOL"/>
              </a:rPr>
              <a:t>SNOBOL</a:t>
            </a:r>
            <a:endParaRPr lang="en-US" dirty="0"/>
          </a:p>
          <a:p>
            <a:r>
              <a:rPr lang="en-US" dirty="0"/>
              <a:t>1963 - </a:t>
            </a:r>
            <a:r>
              <a:rPr lang="en-US" dirty="0">
                <a:hlinkClick r:id="rId15" tooltip="Combined Programming Language"/>
              </a:rPr>
              <a:t>CPL</a:t>
            </a:r>
            <a:r>
              <a:rPr lang="en-US" dirty="0"/>
              <a:t> (precursor de C)</a:t>
            </a:r>
          </a:p>
          <a:p>
            <a:r>
              <a:rPr lang="en-US" dirty="0"/>
              <a:t>1964 - </a:t>
            </a:r>
            <a:r>
              <a:rPr lang="en-US" dirty="0">
                <a:hlinkClick r:id="rId16" tooltip="BASIC"/>
              </a:rPr>
              <a:t>BASIC</a:t>
            </a:r>
            <a:endParaRPr lang="en-US" dirty="0"/>
          </a:p>
          <a:p>
            <a:r>
              <a:rPr lang="en-US" dirty="0"/>
              <a:t>1964 - </a:t>
            </a:r>
            <a:r>
              <a:rPr lang="en-US" dirty="0">
                <a:hlinkClick r:id="rId17" tooltip="PL/I"/>
              </a:rPr>
              <a:t>PL/I</a:t>
            </a:r>
            <a:endParaRPr lang="en-US" dirty="0"/>
          </a:p>
          <a:p>
            <a:r>
              <a:rPr lang="en-US" dirty="0"/>
              <a:t>1967 - </a:t>
            </a:r>
            <a:r>
              <a:rPr lang="en-US" dirty="0">
                <a:hlinkClick r:id="rId18" tooltip="BCPL"/>
              </a:rPr>
              <a:t>BCPL</a:t>
            </a:r>
            <a:r>
              <a:rPr lang="en-US" dirty="0"/>
              <a:t> (precursor de C)</a:t>
            </a:r>
          </a:p>
          <a:p>
            <a:r>
              <a:rPr lang="en-US" dirty="0"/>
              <a:t>1968 - </a:t>
            </a:r>
            <a:r>
              <a:rPr lang="en-US" dirty="0">
                <a:hlinkClick r:id="rId19" tooltip="ALGOL 68"/>
              </a:rPr>
              <a:t>ALGOL 68</a:t>
            </a:r>
            <a:endParaRPr lang="en-US" dirty="0"/>
          </a:p>
        </p:txBody>
      </p:sp>
      <p:sp>
        <p:nvSpPr>
          <p:cNvPr id="4" name="Content Placeholder 2"/>
          <p:cNvSpPr txBox="1">
            <a:spLocks/>
          </p:cNvSpPr>
          <p:nvPr/>
        </p:nvSpPr>
        <p:spPr>
          <a:xfrm>
            <a:off x="6413863" y="1847088"/>
            <a:ext cx="4458789" cy="4389120"/>
          </a:xfrm>
          <a:prstGeom prst="rect">
            <a:avLst/>
          </a:prstGeom>
        </p:spPr>
        <p:txBody>
          <a:bodyPr vert="horz">
            <a:normAutofit fontScale="70000" lnSpcReduction="20000"/>
          </a:bodyPr>
          <a:lstStyle>
            <a:lvl1pPr marL="274320" indent="-274320" algn="l" rtl="0" eaLnBrk="1" latinLnBrk="0" hangingPunct="1">
              <a:spcBef>
                <a:spcPct val="20000"/>
              </a:spcBef>
              <a:buClr>
                <a:schemeClr val="accent3">
                  <a:lumMod val="50000"/>
                </a:schemeClr>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lumMod val="50000"/>
                </a:schemeClr>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lumMod val="50000"/>
                </a:schemeClr>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lumMod val="50000"/>
                </a:schemeClr>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lumMod val="75000"/>
                </a:schemeClr>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lumMod val="50000"/>
                </a:schemeClr>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lumMod val="75000"/>
                </a:schemeClr>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286000" indent="0" algn="l" rtl="0" eaLnBrk="1" latinLnBrk="0" hangingPunct="1">
              <a:spcBef>
                <a:spcPct val="20000"/>
              </a:spcBef>
              <a:buClr>
                <a:schemeClr val="tx2"/>
              </a:buClr>
              <a:buFontTx/>
              <a:buNone/>
              <a:defRPr kumimoji="0" sz="1400" kern="1200" baseline="0">
                <a:solidFill>
                  <a:schemeClr val="tx1"/>
                </a:solidFill>
                <a:latin typeface="+mn-lt"/>
                <a:ea typeface="+mn-ea"/>
                <a:cs typeface="+mn-cs"/>
              </a:defRPr>
            </a:lvl9pPr>
          </a:lstStyle>
          <a:p>
            <a:r>
              <a:rPr lang="es-ES" dirty="0"/>
              <a:t>1968 - </a:t>
            </a:r>
            <a:r>
              <a:rPr lang="es-ES" dirty="0">
                <a:hlinkClick r:id="rId20" tooltip="Logo (lenguaje de programación)"/>
              </a:rPr>
              <a:t>Logo</a:t>
            </a:r>
            <a:endParaRPr lang="es-ES" dirty="0"/>
          </a:p>
          <a:p>
            <a:r>
              <a:rPr lang="es-ES" dirty="0"/>
              <a:t>1969 - </a:t>
            </a:r>
            <a:r>
              <a:rPr lang="es-ES" dirty="0">
                <a:hlinkClick r:id="rId21" tooltip="B (lenguaje de programación)"/>
              </a:rPr>
              <a:t>B</a:t>
            </a:r>
            <a:r>
              <a:rPr lang="es-ES" dirty="0"/>
              <a:t> (precursor C)</a:t>
            </a:r>
          </a:p>
          <a:p>
            <a:r>
              <a:rPr lang="es-ES" dirty="0"/>
              <a:t>1970 - </a:t>
            </a:r>
            <a:r>
              <a:rPr lang="es-ES" dirty="0">
                <a:hlinkClick r:id="rId22" tooltip="Pascal (lenguaje de programación)"/>
              </a:rPr>
              <a:t>Pascal</a:t>
            </a:r>
            <a:endParaRPr lang="es-ES" dirty="0"/>
          </a:p>
          <a:p>
            <a:r>
              <a:rPr lang="es-ES" dirty="0"/>
              <a:t>1970 - </a:t>
            </a:r>
            <a:r>
              <a:rPr lang="es-ES" dirty="0" err="1">
                <a:hlinkClick r:id="rId23" tooltip="Forth"/>
              </a:rPr>
              <a:t>Forth</a:t>
            </a:r>
            <a:endParaRPr lang="es-ES" dirty="0"/>
          </a:p>
          <a:p>
            <a:r>
              <a:rPr lang="es-ES" dirty="0"/>
              <a:t>1972 - </a:t>
            </a:r>
            <a:r>
              <a:rPr lang="es-ES" dirty="0">
                <a:hlinkClick r:id="rId24" tooltip="C (lenguaje de programación)"/>
              </a:rPr>
              <a:t>C</a:t>
            </a:r>
            <a:endParaRPr lang="es-ES" dirty="0"/>
          </a:p>
          <a:p>
            <a:r>
              <a:rPr lang="es-ES" dirty="0"/>
              <a:t>1972 - </a:t>
            </a:r>
            <a:r>
              <a:rPr lang="es-ES" dirty="0" err="1">
                <a:hlinkClick r:id="rId25" tooltip="Smalltalk"/>
              </a:rPr>
              <a:t>Smalltalk</a:t>
            </a:r>
            <a:endParaRPr lang="es-ES" dirty="0"/>
          </a:p>
          <a:p>
            <a:r>
              <a:rPr lang="es-ES" dirty="0"/>
              <a:t>1972 - </a:t>
            </a:r>
            <a:r>
              <a:rPr lang="es-ES" dirty="0" err="1">
                <a:hlinkClick r:id="rId26" tooltip="Prolog"/>
              </a:rPr>
              <a:t>Prolog</a:t>
            </a:r>
            <a:endParaRPr lang="es-ES" dirty="0"/>
          </a:p>
          <a:p>
            <a:r>
              <a:rPr lang="es-ES" dirty="0"/>
              <a:t>1973 - </a:t>
            </a:r>
            <a:r>
              <a:rPr lang="es-ES" dirty="0">
                <a:hlinkClick r:id="rId27" tooltip="ML (lenguaje de programación)"/>
              </a:rPr>
              <a:t>ML</a:t>
            </a:r>
            <a:endParaRPr lang="es-ES" dirty="0"/>
          </a:p>
          <a:p>
            <a:r>
              <a:rPr lang="es-ES" dirty="0"/>
              <a:t>1975 - </a:t>
            </a:r>
            <a:r>
              <a:rPr lang="es-ES" dirty="0" err="1">
                <a:hlinkClick r:id="rId28" tooltip="Scheme"/>
              </a:rPr>
              <a:t>Scheme</a:t>
            </a:r>
            <a:endParaRPr lang="es-ES" dirty="0"/>
          </a:p>
          <a:p>
            <a:r>
              <a:rPr lang="es-ES" dirty="0"/>
              <a:t>1978 - </a:t>
            </a:r>
            <a:r>
              <a:rPr lang="es-ES" dirty="0">
                <a:hlinkClick r:id="rId29" tooltip="SQL"/>
              </a:rPr>
              <a:t>SQL</a:t>
            </a:r>
            <a:r>
              <a:rPr lang="es-ES" dirty="0"/>
              <a:t> (inicialmente sólo un lenguaje de consulta, posteriormente ampliado con construcciones de programación)</a:t>
            </a:r>
          </a:p>
          <a:p>
            <a:r>
              <a:rPr lang="es-ES" dirty="0"/>
              <a:t>1978 - </a:t>
            </a:r>
            <a:r>
              <a:rPr lang="es-ES" dirty="0">
                <a:hlinkClick r:id="rId30" tooltip="Modula-2"/>
              </a:rPr>
              <a:t>Modula-2</a:t>
            </a:r>
            <a:endParaRPr lang="es-ES" dirty="0"/>
          </a:p>
          <a:p>
            <a:r>
              <a:rPr lang="es-ES" dirty="0"/>
              <a:t>La década de 1980:</a:t>
            </a:r>
          </a:p>
          <a:p>
            <a:endParaRPr lang="en-US" dirty="0"/>
          </a:p>
        </p:txBody>
      </p:sp>
    </p:spTree>
    <p:extLst>
      <p:ext uri="{BB962C8B-B14F-4D97-AF65-F5344CB8AC3E}">
        <p14:creationId xmlns:p14="http://schemas.microsoft.com/office/powerpoint/2010/main" val="3433753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1980-1989                1990-1999</a:t>
            </a:r>
          </a:p>
        </p:txBody>
      </p:sp>
      <p:sp>
        <p:nvSpPr>
          <p:cNvPr id="3" name="Content Placeholder 2"/>
          <p:cNvSpPr>
            <a:spLocks noGrp="1"/>
          </p:cNvSpPr>
          <p:nvPr>
            <p:ph idx="1"/>
          </p:nvPr>
        </p:nvSpPr>
        <p:spPr>
          <a:xfrm>
            <a:off x="757644" y="2102250"/>
            <a:ext cx="3971110" cy="4350801"/>
          </a:xfrm>
        </p:spPr>
        <p:txBody>
          <a:bodyPr>
            <a:normAutofit fontScale="85000" lnSpcReduction="20000"/>
          </a:bodyPr>
          <a:lstStyle/>
          <a:p>
            <a:r>
              <a:rPr lang="en-US" dirty="0"/>
              <a:t>1980 - </a:t>
            </a:r>
            <a:r>
              <a:rPr lang="en-US" dirty="0">
                <a:hlinkClick r:id="rId2" tooltip="C++"/>
              </a:rPr>
              <a:t>C++</a:t>
            </a:r>
            <a:r>
              <a:rPr lang="en-US" dirty="0"/>
              <a:t> (C con </a:t>
            </a:r>
            <a:r>
              <a:rPr lang="en-US" dirty="0" err="1"/>
              <a:t>clases</a:t>
            </a:r>
            <a:r>
              <a:rPr lang="en-US" dirty="0"/>
              <a:t>, el </a:t>
            </a:r>
            <a:r>
              <a:rPr lang="en-US" dirty="0" err="1"/>
              <a:t>nombre</a:t>
            </a:r>
            <a:r>
              <a:rPr lang="en-US" dirty="0"/>
              <a:t> </a:t>
            </a:r>
            <a:r>
              <a:rPr lang="en-US" dirty="0" err="1"/>
              <a:t>cambió</a:t>
            </a:r>
            <a:r>
              <a:rPr lang="en-US" dirty="0"/>
              <a:t> </a:t>
            </a:r>
            <a:r>
              <a:rPr lang="en-US" dirty="0" err="1"/>
              <a:t>en</a:t>
            </a:r>
            <a:r>
              <a:rPr lang="en-US" dirty="0"/>
              <a:t> </a:t>
            </a:r>
            <a:r>
              <a:rPr lang="en-US" dirty="0" err="1"/>
              <a:t>julio</a:t>
            </a:r>
            <a:r>
              <a:rPr lang="en-US" dirty="0"/>
              <a:t> de 1983)</a:t>
            </a:r>
          </a:p>
          <a:p>
            <a:r>
              <a:rPr lang="en-US" dirty="0"/>
              <a:t>1983 - </a:t>
            </a:r>
            <a:r>
              <a:rPr lang="en-US" dirty="0">
                <a:hlinkClick r:id="rId3" tooltip="Ada (lenguaje de programación)"/>
              </a:rPr>
              <a:t>Ada</a:t>
            </a:r>
            <a:endParaRPr lang="en-US" dirty="0"/>
          </a:p>
          <a:p>
            <a:r>
              <a:rPr lang="en-US" dirty="0"/>
              <a:t>1984 - </a:t>
            </a:r>
            <a:r>
              <a:rPr lang="en-US" dirty="0">
                <a:hlinkClick r:id="rId4" tooltip="Common Lisp"/>
              </a:rPr>
              <a:t>Common Lisp</a:t>
            </a:r>
            <a:endParaRPr lang="en-US" dirty="0"/>
          </a:p>
          <a:p>
            <a:r>
              <a:rPr lang="en-US" dirty="0"/>
              <a:t>1984 - </a:t>
            </a:r>
            <a:r>
              <a:rPr lang="en-US" dirty="0">
                <a:hlinkClick r:id="rId5" tooltip="MATLAB"/>
              </a:rPr>
              <a:t>MATLAB</a:t>
            </a:r>
            <a:endParaRPr lang="en-US" dirty="0"/>
          </a:p>
          <a:p>
            <a:r>
              <a:rPr lang="en-US" dirty="0"/>
              <a:t>1985 - </a:t>
            </a:r>
            <a:r>
              <a:rPr lang="en-US" dirty="0">
                <a:hlinkClick r:id="rId6" tooltip="Eiffel (lenguaje de programación)"/>
              </a:rPr>
              <a:t>Eiffel</a:t>
            </a:r>
            <a:endParaRPr lang="en-US" dirty="0"/>
          </a:p>
          <a:p>
            <a:r>
              <a:rPr lang="en-US" dirty="0"/>
              <a:t>1986 - </a:t>
            </a:r>
            <a:r>
              <a:rPr lang="en-US" dirty="0">
                <a:hlinkClick r:id="rId7" tooltip="Objective-C"/>
              </a:rPr>
              <a:t>Objective-C</a:t>
            </a:r>
            <a:endParaRPr lang="en-US" dirty="0"/>
          </a:p>
          <a:p>
            <a:r>
              <a:rPr lang="en-US" dirty="0"/>
              <a:t>1986 - </a:t>
            </a:r>
            <a:r>
              <a:rPr lang="en-US" dirty="0" err="1">
                <a:hlinkClick r:id="rId8" tooltip="Lenguaje de programación Erlang"/>
              </a:rPr>
              <a:t>Erlang</a:t>
            </a:r>
            <a:endParaRPr lang="en-US" dirty="0"/>
          </a:p>
          <a:p>
            <a:r>
              <a:rPr lang="en-US" dirty="0"/>
              <a:t>1987 - </a:t>
            </a:r>
            <a:r>
              <a:rPr lang="en-US" dirty="0">
                <a:hlinkClick r:id="rId9" tooltip="Perl"/>
              </a:rPr>
              <a:t>Perl</a:t>
            </a:r>
            <a:endParaRPr lang="en-US" dirty="0"/>
          </a:p>
          <a:p>
            <a:r>
              <a:rPr lang="en-US" dirty="0"/>
              <a:t>1988 - </a:t>
            </a:r>
            <a:r>
              <a:rPr lang="en-US" dirty="0" err="1">
                <a:hlinkClick r:id="rId10" tooltip="Tcl"/>
              </a:rPr>
              <a:t>Tcl</a:t>
            </a:r>
            <a:endParaRPr lang="en-US" dirty="0"/>
          </a:p>
          <a:p>
            <a:r>
              <a:rPr lang="en-US" dirty="0"/>
              <a:t>1988 - </a:t>
            </a:r>
            <a:r>
              <a:rPr lang="en-US" dirty="0">
                <a:hlinkClick r:id="rId11" tooltip="Mathematica"/>
              </a:rPr>
              <a:t>Mathematica</a:t>
            </a:r>
            <a:endParaRPr lang="en-US" dirty="0"/>
          </a:p>
          <a:p>
            <a:r>
              <a:rPr lang="en-US" dirty="0"/>
              <a:t>1989 - </a:t>
            </a:r>
            <a:r>
              <a:rPr lang="en-US" dirty="0">
                <a:hlinkClick r:id="rId12" tooltip="FL (lenguaje de programación) (aún no redactado)"/>
              </a:rPr>
              <a:t>FL</a:t>
            </a:r>
            <a:r>
              <a:rPr lang="en-US" dirty="0"/>
              <a:t> (Backus);</a:t>
            </a:r>
          </a:p>
        </p:txBody>
      </p:sp>
      <p:sp>
        <p:nvSpPr>
          <p:cNvPr id="4" name="Content Placeholder 2"/>
          <p:cNvSpPr txBox="1">
            <a:spLocks/>
          </p:cNvSpPr>
          <p:nvPr/>
        </p:nvSpPr>
        <p:spPr>
          <a:xfrm>
            <a:off x="6400800" y="1878439"/>
            <a:ext cx="4458789" cy="4389120"/>
          </a:xfrm>
          <a:prstGeom prst="rect">
            <a:avLst/>
          </a:prstGeom>
        </p:spPr>
        <p:txBody>
          <a:bodyPr vert="horz">
            <a:normAutofit fontScale="70000" lnSpcReduction="20000"/>
          </a:bodyPr>
          <a:lstStyle>
            <a:lvl1pPr marL="274320" indent="-274320" algn="l" rtl="0" eaLnBrk="1" latinLnBrk="0" hangingPunct="1">
              <a:spcBef>
                <a:spcPct val="20000"/>
              </a:spcBef>
              <a:buClr>
                <a:schemeClr val="accent3">
                  <a:lumMod val="50000"/>
                </a:schemeClr>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lumMod val="50000"/>
                </a:schemeClr>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lumMod val="50000"/>
                </a:schemeClr>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lumMod val="50000"/>
                </a:schemeClr>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lumMod val="75000"/>
                </a:schemeClr>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lumMod val="50000"/>
                </a:schemeClr>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lumMod val="75000"/>
                </a:schemeClr>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286000" indent="0" algn="l" rtl="0" eaLnBrk="1" latinLnBrk="0" hangingPunct="1">
              <a:spcBef>
                <a:spcPct val="20000"/>
              </a:spcBef>
              <a:buClr>
                <a:schemeClr val="tx2"/>
              </a:buClr>
              <a:buFontTx/>
              <a:buNone/>
              <a:defRPr kumimoji="0" sz="1400" kern="1200" baseline="0">
                <a:solidFill>
                  <a:schemeClr val="tx1"/>
                </a:solidFill>
                <a:latin typeface="+mn-lt"/>
                <a:ea typeface="+mn-ea"/>
                <a:cs typeface="+mn-cs"/>
              </a:defRPr>
            </a:lvl9pPr>
          </a:lstStyle>
          <a:p>
            <a:r>
              <a:rPr lang="en-US" dirty="0"/>
              <a:t>1990 - </a:t>
            </a:r>
            <a:r>
              <a:rPr lang="en-US" dirty="0">
                <a:hlinkClick r:id="rId13" tooltip="Haskell"/>
              </a:rPr>
              <a:t>Haskell</a:t>
            </a:r>
            <a:endParaRPr lang="en-US" dirty="0"/>
          </a:p>
          <a:p>
            <a:r>
              <a:rPr lang="en-US" dirty="0"/>
              <a:t>1991 - </a:t>
            </a:r>
            <a:r>
              <a:rPr lang="en-US" dirty="0">
                <a:hlinkClick r:id="rId14" tooltip="Python"/>
              </a:rPr>
              <a:t>Python</a:t>
            </a:r>
            <a:endParaRPr lang="en-US" dirty="0"/>
          </a:p>
          <a:p>
            <a:r>
              <a:rPr lang="en-US" dirty="0"/>
              <a:t>1991 - </a:t>
            </a:r>
            <a:r>
              <a:rPr lang="en-US" dirty="0">
                <a:hlinkClick r:id="rId15" tooltip="Visual Basic"/>
              </a:rPr>
              <a:t>Visual Basic</a:t>
            </a:r>
            <a:endParaRPr lang="en-US" dirty="0"/>
          </a:p>
          <a:p>
            <a:r>
              <a:rPr lang="en-US" dirty="0"/>
              <a:t>1991 - </a:t>
            </a:r>
            <a:r>
              <a:rPr lang="en-US" dirty="0">
                <a:hlinkClick r:id="rId16" tooltip="HTML"/>
              </a:rPr>
              <a:t>HTML</a:t>
            </a:r>
            <a:r>
              <a:rPr lang="en-US" dirty="0"/>
              <a:t> (</a:t>
            </a:r>
            <a:r>
              <a:rPr lang="en-US" dirty="0" err="1"/>
              <a:t>lenguaje</a:t>
            </a:r>
            <a:r>
              <a:rPr lang="en-US" dirty="0"/>
              <a:t> de </a:t>
            </a:r>
            <a:r>
              <a:rPr lang="en-US" dirty="0" err="1"/>
              <a:t>marcado</a:t>
            </a:r>
            <a:r>
              <a:rPr lang="en-US" dirty="0"/>
              <a:t> de </a:t>
            </a:r>
            <a:r>
              <a:rPr lang="en-US" dirty="0" err="1"/>
              <a:t>hipertexto</a:t>
            </a:r>
            <a:r>
              <a:rPr lang="en-US" dirty="0"/>
              <a:t>)</a:t>
            </a:r>
          </a:p>
          <a:p>
            <a:r>
              <a:rPr lang="en-US" dirty="0"/>
              <a:t>1993 - </a:t>
            </a:r>
            <a:r>
              <a:rPr lang="en-US" dirty="0">
                <a:hlinkClick r:id="rId17" tooltip="Ruby"/>
              </a:rPr>
              <a:t>Ruby</a:t>
            </a:r>
            <a:endParaRPr lang="en-US" dirty="0"/>
          </a:p>
          <a:p>
            <a:r>
              <a:rPr lang="en-US" dirty="0"/>
              <a:t>1993 - </a:t>
            </a:r>
            <a:r>
              <a:rPr lang="en-US" dirty="0" err="1">
                <a:hlinkClick r:id="rId18" tooltip="Lua"/>
              </a:rPr>
              <a:t>Lua</a:t>
            </a:r>
            <a:endParaRPr lang="en-US" dirty="0"/>
          </a:p>
          <a:p>
            <a:r>
              <a:rPr lang="en-US" dirty="0"/>
              <a:t>1994 - </a:t>
            </a:r>
            <a:r>
              <a:rPr lang="en-US" dirty="0">
                <a:hlinkClick r:id="rId19" tooltip="CLOS"/>
              </a:rPr>
              <a:t>CLOS</a:t>
            </a:r>
            <a:r>
              <a:rPr lang="en-US" dirty="0"/>
              <a:t> (parte del ANSI Common Lisp)</a:t>
            </a:r>
          </a:p>
          <a:p>
            <a:r>
              <a:rPr lang="en-US" dirty="0"/>
              <a:t>1995 - </a:t>
            </a:r>
            <a:r>
              <a:rPr lang="en-US" dirty="0">
                <a:hlinkClick r:id="rId20" tooltip="Java (lenguaje de programación)"/>
              </a:rPr>
              <a:t>Java</a:t>
            </a:r>
            <a:endParaRPr lang="en-US" dirty="0"/>
          </a:p>
          <a:p>
            <a:r>
              <a:rPr lang="en-US" dirty="0"/>
              <a:t>1995 - </a:t>
            </a:r>
            <a:r>
              <a:rPr lang="en-US" dirty="0">
                <a:hlinkClick r:id="rId21" tooltip="Embarcadero Delphi"/>
              </a:rPr>
              <a:t>Delphi (Object Pascal)</a:t>
            </a:r>
            <a:endParaRPr lang="en-US" dirty="0"/>
          </a:p>
          <a:p>
            <a:r>
              <a:rPr lang="en-US" dirty="0"/>
              <a:t>1995 - </a:t>
            </a:r>
            <a:r>
              <a:rPr lang="en-US" dirty="0">
                <a:hlinkClick r:id="rId22" tooltip="JavaScript"/>
              </a:rPr>
              <a:t>JavaScript</a:t>
            </a:r>
            <a:endParaRPr lang="en-US" dirty="0"/>
          </a:p>
          <a:p>
            <a:r>
              <a:rPr lang="en-US" dirty="0"/>
              <a:t>1995 - </a:t>
            </a:r>
            <a:r>
              <a:rPr lang="en-US" dirty="0">
                <a:hlinkClick r:id="rId23" tooltip="PHP"/>
              </a:rPr>
              <a:t>PHP</a:t>
            </a:r>
            <a:endParaRPr lang="en-US" dirty="0"/>
          </a:p>
          <a:p>
            <a:r>
              <a:rPr lang="en-US" dirty="0"/>
              <a:t>1996 - </a:t>
            </a:r>
            <a:r>
              <a:rPr lang="en-US" dirty="0" err="1">
                <a:hlinkClick r:id="rId24" tooltip="WebDNA (aún no redactado)"/>
              </a:rPr>
              <a:t>WebDNA</a:t>
            </a:r>
            <a:endParaRPr lang="en-US" dirty="0"/>
          </a:p>
          <a:p>
            <a:r>
              <a:rPr lang="en-US" dirty="0"/>
              <a:t>1997 - </a:t>
            </a:r>
            <a:r>
              <a:rPr lang="en-US" dirty="0" err="1">
                <a:hlinkClick r:id="rId25" tooltip="Rebol (aún no redactado)"/>
              </a:rPr>
              <a:t>Rebol</a:t>
            </a:r>
            <a:endParaRPr lang="en-US" dirty="0"/>
          </a:p>
          <a:p>
            <a:r>
              <a:rPr lang="en-US" dirty="0"/>
              <a:t>1999 - </a:t>
            </a:r>
            <a:r>
              <a:rPr lang="en-US" dirty="0">
                <a:hlinkClick r:id="rId26" tooltip="D (lenguaje de programación)"/>
              </a:rPr>
              <a:t>D</a:t>
            </a:r>
            <a:endParaRPr lang="en-US" dirty="0"/>
          </a:p>
          <a:p>
            <a:endParaRPr lang="en-US" dirty="0"/>
          </a:p>
        </p:txBody>
      </p:sp>
    </p:spTree>
    <p:extLst>
      <p:ext uri="{BB962C8B-B14F-4D97-AF65-F5344CB8AC3E}">
        <p14:creationId xmlns:p14="http://schemas.microsoft.com/office/powerpoint/2010/main" val="1975795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Actualidad</a:t>
            </a:r>
            <a:endParaRPr lang="en-US" dirty="0"/>
          </a:p>
        </p:txBody>
      </p:sp>
      <p:sp>
        <p:nvSpPr>
          <p:cNvPr id="3" name="Content Placeholder 2"/>
          <p:cNvSpPr>
            <a:spLocks noGrp="1"/>
          </p:cNvSpPr>
          <p:nvPr>
            <p:ph idx="1"/>
          </p:nvPr>
        </p:nvSpPr>
        <p:spPr/>
        <p:txBody>
          <a:bodyPr>
            <a:normAutofit fontScale="85000" lnSpcReduction="20000"/>
          </a:bodyPr>
          <a:lstStyle/>
          <a:p>
            <a:r>
              <a:rPr lang="en-US" dirty="0"/>
              <a:t>2000 - </a:t>
            </a:r>
            <a:r>
              <a:rPr lang="en-US" dirty="0">
                <a:hlinkClick r:id="rId2" tooltip="ActionScript"/>
              </a:rPr>
              <a:t>ActionScript</a:t>
            </a:r>
            <a:endParaRPr lang="en-US" dirty="0"/>
          </a:p>
          <a:p>
            <a:r>
              <a:rPr lang="en-US" dirty="0"/>
              <a:t>2001 - </a:t>
            </a:r>
            <a:r>
              <a:rPr lang="en-US" dirty="0">
                <a:hlinkClick r:id="rId3" tooltip="C Sharp"/>
              </a:rPr>
              <a:t>C#</a:t>
            </a:r>
            <a:endParaRPr lang="en-US" dirty="0"/>
          </a:p>
          <a:p>
            <a:r>
              <a:rPr lang="en-US" dirty="0"/>
              <a:t>2001 - </a:t>
            </a:r>
            <a:r>
              <a:rPr lang="en-US" dirty="0">
                <a:hlinkClick r:id="rId4" tooltip="Visual Basic .NET"/>
              </a:rPr>
              <a:t>Visual Basic .NET</a:t>
            </a:r>
            <a:endParaRPr lang="en-US" dirty="0"/>
          </a:p>
          <a:p>
            <a:r>
              <a:rPr lang="en-US" dirty="0"/>
              <a:t>2002 - </a:t>
            </a:r>
            <a:r>
              <a:rPr lang="en-US" dirty="0">
                <a:hlinkClick r:id="rId5" tooltip="F Sharp"/>
              </a:rPr>
              <a:t>F#</a:t>
            </a:r>
            <a:endParaRPr lang="en-US" dirty="0"/>
          </a:p>
          <a:p>
            <a:r>
              <a:rPr lang="en-US" dirty="0"/>
              <a:t>2003 - </a:t>
            </a:r>
            <a:r>
              <a:rPr lang="en-US" dirty="0">
                <a:hlinkClick r:id="rId6" tooltip="Groovy (lenguaje de programación)"/>
              </a:rPr>
              <a:t>Groovy</a:t>
            </a:r>
            <a:endParaRPr lang="en-US" dirty="0"/>
          </a:p>
          <a:p>
            <a:r>
              <a:rPr lang="en-US" dirty="0"/>
              <a:t>2003 - </a:t>
            </a:r>
            <a:r>
              <a:rPr lang="en-US" dirty="0">
                <a:hlinkClick r:id="rId7" tooltip="Scala (lenguaje de programación)"/>
              </a:rPr>
              <a:t>Scala</a:t>
            </a:r>
            <a:endParaRPr lang="en-US" dirty="0"/>
          </a:p>
          <a:p>
            <a:r>
              <a:rPr lang="en-US" dirty="0"/>
              <a:t>2003 - </a:t>
            </a:r>
            <a:r>
              <a:rPr lang="en-US" dirty="0">
                <a:hlinkClick r:id="rId8" tooltip="Factor (lenguaje de programación) (aún no redactado)"/>
              </a:rPr>
              <a:t>Factor</a:t>
            </a:r>
            <a:endParaRPr lang="en-US" dirty="0"/>
          </a:p>
          <a:p>
            <a:r>
              <a:rPr lang="en-US" dirty="0"/>
              <a:t>2005 - </a:t>
            </a:r>
            <a:r>
              <a:rPr lang="en-US" dirty="0">
                <a:hlinkClick r:id="rId9" tooltip="Scratch (lenguaje de programación)"/>
              </a:rPr>
              <a:t>Scratch</a:t>
            </a:r>
            <a:endParaRPr lang="en-US" dirty="0"/>
          </a:p>
          <a:p>
            <a:r>
              <a:rPr lang="en-US" dirty="0"/>
              <a:t>2007 - </a:t>
            </a:r>
            <a:r>
              <a:rPr lang="en-US" dirty="0" err="1">
                <a:hlinkClick r:id="rId10" tooltip="Clojure"/>
              </a:rPr>
              <a:t>Clojure</a:t>
            </a:r>
            <a:endParaRPr lang="en-US" dirty="0"/>
          </a:p>
          <a:p>
            <a:r>
              <a:rPr lang="en-US" dirty="0"/>
              <a:t>2009 - </a:t>
            </a:r>
            <a:r>
              <a:rPr lang="en-US" dirty="0">
                <a:hlinkClick r:id="rId11" tooltip="Go (lenguaje de programación)"/>
              </a:rPr>
              <a:t>Go</a:t>
            </a:r>
            <a:endParaRPr lang="en-US" dirty="0"/>
          </a:p>
          <a:p>
            <a:r>
              <a:rPr lang="en-US" dirty="0"/>
              <a:t>2011 - </a:t>
            </a:r>
            <a:r>
              <a:rPr lang="en-US" dirty="0">
                <a:hlinkClick r:id="rId12" tooltip="Dart"/>
              </a:rPr>
              <a:t>Dart</a:t>
            </a:r>
            <a:endParaRPr lang="en-US" dirty="0"/>
          </a:p>
          <a:p>
            <a:r>
              <a:rPr lang="en-US" dirty="0"/>
              <a:t>2014 - </a:t>
            </a:r>
            <a:r>
              <a:rPr lang="en-US" dirty="0">
                <a:hlinkClick r:id="rId13" tooltip="Swift (lenguaje de programación)"/>
              </a:rPr>
              <a:t>Swift</a:t>
            </a:r>
            <a:endParaRPr lang="en-US" dirty="0"/>
          </a:p>
          <a:p>
            <a:endParaRPr lang="en-US" dirty="0"/>
          </a:p>
        </p:txBody>
      </p:sp>
    </p:spTree>
    <p:extLst>
      <p:ext uri="{BB962C8B-B14F-4D97-AF65-F5344CB8AC3E}">
        <p14:creationId xmlns:p14="http://schemas.microsoft.com/office/powerpoint/2010/main" val="4207406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s-ES" sz="3200" dirty="0"/>
              <a:t>EVOLUCIÓN DE LOS LENGUAJES DE PROGRAMACIÓN</a:t>
            </a:r>
            <a:endParaRPr lang="en-US" sz="3200" dirty="0"/>
          </a:p>
        </p:txBody>
      </p:sp>
      <p:sp>
        <p:nvSpPr>
          <p:cNvPr id="3" name="Content Placeholder 2"/>
          <p:cNvSpPr>
            <a:spLocks noGrp="1"/>
          </p:cNvSpPr>
          <p:nvPr>
            <p:ph idx="1"/>
          </p:nvPr>
        </p:nvSpPr>
        <p:spPr/>
        <p:txBody>
          <a:bodyPr>
            <a:normAutofit/>
          </a:bodyPr>
          <a:lstStyle/>
          <a:p>
            <a:r>
              <a:rPr lang="es-ES" dirty="0"/>
              <a:t>Lenguajes de primera generación</a:t>
            </a:r>
          </a:p>
          <a:p>
            <a:r>
              <a:rPr lang="es-ES" dirty="0"/>
              <a:t>Lenguajes de segunda generación</a:t>
            </a:r>
          </a:p>
          <a:p>
            <a:r>
              <a:rPr lang="es-ES" dirty="0"/>
              <a:t>Lenguajes de tercera generación</a:t>
            </a:r>
          </a:p>
          <a:p>
            <a:r>
              <a:rPr lang="es-ES" dirty="0"/>
              <a:t>Lenguajes de cuarta generación</a:t>
            </a:r>
          </a:p>
          <a:p>
            <a:r>
              <a:rPr lang="es-ES" dirty="0"/>
              <a:t>Lenguajes de quinta generación</a:t>
            </a:r>
          </a:p>
          <a:p>
            <a:endParaRPr lang="en-US" dirty="0"/>
          </a:p>
        </p:txBody>
      </p:sp>
    </p:spTree>
    <p:extLst>
      <p:ext uri="{BB962C8B-B14F-4D97-AF65-F5344CB8AC3E}">
        <p14:creationId xmlns:p14="http://schemas.microsoft.com/office/powerpoint/2010/main" val="1853753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LENGUAJES DE PRIMERA GENERACIÓN</a:t>
            </a:r>
            <a:endParaRPr lang="en-US" dirty="0"/>
          </a:p>
        </p:txBody>
      </p:sp>
      <p:sp>
        <p:nvSpPr>
          <p:cNvPr id="3" name="Content Placeholder 2"/>
          <p:cNvSpPr>
            <a:spLocks noGrp="1"/>
          </p:cNvSpPr>
          <p:nvPr>
            <p:ph idx="1"/>
          </p:nvPr>
        </p:nvSpPr>
        <p:spPr/>
        <p:txBody>
          <a:bodyPr>
            <a:normAutofit/>
          </a:bodyPr>
          <a:lstStyle/>
          <a:p>
            <a:r>
              <a:rPr lang="es-ES" dirty="0"/>
              <a:t>Lo constituyen los lenguajes maquina. Estos se consideran como de bajo nivel por que no existe un programa de codificación menos complicado que el que utiliza los símbolos binarios 1 y 0.</a:t>
            </a:r>
          </a:p>
          <a:p>
            <a:r>
              <a:rPr lang="es-ES" dirty="0" err="1"/>
              <a:t>Ascii</a:t>
            </a:r>
            <a:r>
              <a:rPr lang="es-ES" dirty="0"/>
              <a:t>, utiliza ceros y unos para representar letras del alfabeto.</a:t>
            </a:r>
          </a:p>
          <a:p>
            <a:r>
              <a:rPr lang="es-ES" dirty="0"/>
              <a:t>Como este es el lenguaje del CPU, los archivos de texto traducidos a los grupos binarios ASCII pueden leerse por casi cualquier plataforma de sistemas de computadoras.</a:t>
            </a:r>
          </a:p>
        </p:txBody>
      </p:sp>
    </p:spTree>
    <p:extLst>
      <p:ext uri="{BB962C8B-B14F-4D97-AF65-F5344CB8AC3E}">
        <p14:creationId xmlns:p14="http://schemas.microsoft.com/office/powerpoint/2010/main" val="142839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LENGUAJES DE SEGUNDA GENERACIÓN</a:t>
            </a:r>
            <a:endParaRPr lang="en-US" dirty="0"/>
          </a:p>
        </p:txBody>
      </p:sp>
      <p:sp>
        <p:nvSpPr>
          <p:cNvPr id="3" name="Content Placeholder 2"/>
          <p:cNvSpPr>
            <a:spLocks noGrp="1"/>
          </p:cNvSpPr>
          <p:nvPr>
            <p:ph idx="1"/>
          </p:nvPr>
        </p:nvSpPr>
        <p:spPr/>
        <p:txBody>
          <a:bodyPr/>
          <a:lstStyle/>
          <a:p>
            <a:r>
              <a:rPr lang="es-ES" dirty="0"/>
              <a:t>A estos se les </a:t>
            </a:r>
            <a:r>
              <a:rPr lang="es-ES" dirty="0" err="1"/>
              <a:t>denomió</a:t>
            </a:r>
            <a:r>
              <a:rPr lang="es-ES" dirty="0"/>
              <a:t> lenguaje ensamblador.</a:t>
            </a:r>
          </a:p>
          <a:p>
            <a:r>
              <a:rPr lang="es-ES" dirty="0"/>
              <a:t>Los lenguajes ensambladores usan códigos como a para agregar o </a:t>
            </a:r>
            <a:r>
              <a:rPr lang="es-ES" dirty="0" err="1"/>
              <a:t>mvc</a:t>
            </a:r>
            <a:r>
              <a:rPr lang="es-ES" dirty="0"/>
              <a:t> para mover, y </a:t>
            </a:r>
            <a:r>
              <a:rPr lang="es-ES" dirty="0" err="1"/>
              <a:t>asi</a:t>
            </a:r>
            <a:r>
              <a:rPr lang="es-ES" dirty="0"/>
              <a:t> sucesivamente.</a:t>
            </a:r>
          </a:p>
          <a:p>
            <a:r>
              <a:rPr lang="es-ES" dirty="0"/>
              <a:t>Los programas de software de sistemas tales como los sistemas operativos y los programas de utilidad se escriben con frecuencia en un lenguaje ensamblador.</a:t>
            </a:r>
            <a:endParaRPr lang="en-US" dirty="0"/>
          </a:p>
        </p:txBody>
      </p:sp>
    </p:spTree>
    <p:extLst>
      <p:ext uri="{BB962C8B-B14F-4D97-AF65-F5344CB8AC3E}">
        <p14:creationId xmlns:p14="http://schemas.microsoft.com/office/powerpoint/2010/main" val="3468825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LENGUAJES DE TERCERA GENERACIÓN</a:t>
            </a:r>
            <a:endParaRPr lang="en-US" dirty="0"/>
          </a:p>
        </p:txBody>
      </p:sp>
      <p:sp>
        <p:nvSpPr>
          <p:cNvPr id="3" name="Content Placeholder 2"/>
          <p:cNvSpPr>
            <a:spLocks noGrp="1"/>
          </p:cNvSpPr>
          <p:nvPr>
            <p:ph idx="1"/>
          </p:nvPr>
        </p:nvSpPr>
        <p:spPr/>
        <p:txBody>
          <a:bodyPr/>
          <a:lstStyle/>
          <a:p>
            <a:r>
              <a:rPr lang="es-ES" dirty="0"/>
              <a:t>Estos son mas fáciles de aprender y usar que los lenguajes maquina y el lenguaje ensamblador, pues su similitud con la comunicación y comprensión humana cotidiana es mayor.</a:t>
            </a:r>
          </a:p>
          <a:p>
            <a:r>
              <a:rPr lang="es-ES" dirty="0"/>
              <a:t>Enunciados, </a:t>
            </a:r>
            <a:r>
              <a:rPr lang="es-ES" dirty="0" err="1"/>
              <a:t>Print</a:t>
            </a:r>
            <a:r>
              <a:rPr lang="es-ES" dirty="0"/>
              <a:t>, Total sales, </a:t>
            </a:r>
            <a:r>
              <a:rPr lang="es-ES" dirty="0" err="1"/>
              <a:t>Read</a:t>
            </a:r>
            <a:r>
              <a:rPr lang="es-ES" dirty="0"/>
              <a:t> normal </a:t>
            </a:r>
            <a:r>
              <a:rPr lang="es-ES" dirty="0" err="1"/>
              <a:t>Pay</a:t>
            </a:r>
            <a:r>
              <a:rPr lang="es-ES" dirty="0"/>
              <a:t> etc.</a:t>
            </a:r>
          </a:p>
          <a:p>
            <a:r>
              <a:rPr lang="es-ES" dirty="0"/>
              <a:t>Aunque son mas fáciles de programar, no son tan eficientes en términos de rapidez operacional y memoria.</a:t>
            </a:r>
            <a:endParaRPr lang="en-US" dirty="0"/>
          </a:p>
        </p:txBody>
      </p:sp>
    </p:spTree>
    <p:extLst>
      <p:ext uri="{BB962C8B-B14F-4D97-AF65-F5344CB8AC3E}">
        <p14:creationId xmlns:p14="http://schemas.microsoft.com/office/powerpoint/2010/main" val="701798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LENGUAJES DE CUARTA GENERACIÓN</a:t>
            </a:r>
            <a:endParaRPr lang="en-US" dirty="0"/>
          </a:p>
        </p:txBody>
      </p:sp>
      <p:sp>
        <p:nvSpPr>
          <p:cNvPr id="3" name="Content Placeholder 2"/>
          <p:cNvSpPr>
            <a:spLocks noGrp="1"/>
          </p:cNvSpPr>
          <p:nvPr>
            <p:ph idx="1"/>
          </p:nvPr>
        </p:nvSpPr>
        <p:spPr/>
        <p:txBody>
          <a:bodyPr>
            <a:normAutofit fontScale="92500" lnSpcReduction="10000"/>
          </a:bodyPr>
          <a:lstStyle/>
          <a:p>
            <a:r>
              <a:rPr lang="es-ES" dirty="0"/>
              <a:t>Son lenguajes que se relacionan menos con procedimientos y que son aun mas parecidos al ingles que los lenguajes de tercera generación.</a:t>
            </a:r>
          </a:p>
          <a:p>
            <a:r>
              <a:rPr lang="es-ES" dirty="0"/>
              <a:t>Algunas características incluyen capacidades de consulta y base de datos, de creación de códigos y capacidades gráficas.</a:t>
            </a:r>
          </a:p>
          <a:p>
            <a:r>
              <a:rPr lang="es-ES" dirty="0"/>
              <a:t>Ejemplos Visual C++, Visual Basic, </a:t>
            </a:r>
            <a:r>
              <a:rPr lang="es-ES" dirty="0" err="1"/>
              <a:t>Power</a:t>
            </a:r>
            <a:r>
              <a:rPr lang="es-ES" dirty="0"/>
              <a:t> </a:t>
            </a:r>
            <a:r>
              <a:rPr lang="es-ES" dirty="0" err="1"/>
              <a:t>Builder</a:t>
            </a:r>
            <a:r>
              <a:rPr lang="es-ES" dirty="0"/>
              <a:t>, Delphi, Forte y muchos otros.</a:t>
            </a:r>
          </a:p>
          <a:p>
            <a:endParaRPr lang="es-ES" dirty="0"/>
          </a:p>
          <a:p>
            <a:r>
              <a:rPr lang="es-ES" dirty="0"/>
              <a:t>Lenguajes de consulta son utilizados para hacer preguntas ala computadora con frases parecidas alas de un idioma, ejemplo el inglés.</a:t>
            </a:r>
          </a:p>
          <a:p>
            <a:r>
              <a:rPr lang="es-ES" dirty="0"/>
              <a:t>Lenguaje de consulta estructurado. Lenguaje estándar que a menudo se usa para realizar consultas y manipulaciones ala base de datos.</a:t>
            </a:r>
            <a:endParaRPr lang="en-US" dirty="0"/>
          </a:p>
        </p:txBody>
      </p:sp>
    </p:spTree>
    <p:extLst>
      <p:ext uri="{BB962C8B-B14F-4D97-AF65-F5344CB8AC3E}">
        <p14:creationId xmlns:p14="http://schemas.microsoft.com/office/powerpoint/2010/main" val="2070957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LENGUAJES DE QUINTA GENERACIÓN</a:t>
            </a:r>
            <a:endParaRPr lang="en-US" dirty="0"/>
          </a:p>
        </p:txBody>
      </p:sp>
      <p:sp>
        <p:nvSpPr>
          <p:cNvPr id="3" name="Content Placeholder 2"/>
          <p:cNvSpPr>
            <a:spLocks noGrp="1"/>
          </p:cNvSpPr>
          <p:nvPr>
            <p:ph idx="1"/>
          </p:nvPr>
        </p:nvSpPr>
        <p:spPr/>
        <p:txBody>
          <a:bodyPr/>
          <a:lstStyle/>
          <a:p>
            <a:r>
              <a:rPr lang="es-ES" dirty="0"/>
              <a:t>Alrededor de la mitad 1998 surgieron </a:t>
            </a:r>
            <a:r>
              <a:rPr lang="es-ES" dirty="0" err="1"/>
              <a:t>gripos</a:t>
            </a:r>
            <a:r>
              <a:rPr lang="es-ES" dirty="0"/>
              <a:t> de herramientas de lenguajes de quinta generación, los cuales combinan la creación de códigos basadas en reglas, la administración de reutilización y otros avances.</a:t>
            </a:r>
          </a:p>
          <a:p>
            <a:r>
              <a:rPr lang="es-ES" dirty="0"/>
              <a:t>Programación basada en conocimiento. Método para el desarrollo de programas de computación en el que se le ordena ala computadora realizar un propósito en vez de instruirla para hacerlo.</a:t>
            </a:r>
            <a:endParaRPr lang="en-US" dirty="0"/>
          </a:p>
        </p:txBody>
      </p:sp>
    </p:spTree>
    <p:extLst>
      <p:ext uri="{BB962C8B-B14F-4D97-AF65-F5344CB8AC3E}">
        <p14:creationId xmlns:p14="http://schemas.microsoft.com/office/powerpoint/2010/main" val="187340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ES" b="1" dirty="0"/>
              <a:t>SELECCIÓN DE UN LENGUAJE DE PROGRAMACIÓN</a:t>
            </a:r>
            <a:endParaRPr lang="en-US" dirty="0"/>
          </a:p>
        </p:txBody>
      </p:sp>
      <p:sp>
        <p:nvSpPr>
          <p:cNvPr id="3" name="Content Placeholder 2"/>
          <p:cNvSpPr>
            <a:spLocks noGrp="1"/>
          </p:cNvSpPr>
          <p:nvPr>
            <p:ph idx="1"/>
          </p:nvPr>
        </p:nvSpPr>
        <p:spPr/>
        <p:txBody>
          <a:bodyPr/>
          <a:lstStyle/>
          <a:p>
            <a:r>
              <a:rPr lang="es-ES" dirty="0"/>
              <a:t>El mejor lenguaje de programación para usarse en un programa en particular incluye equilibrar las características funcionales del lenguaje con aspectos como costo, control y complejidad.</a:t>
            </a:r>
          </a:p>
          <a:p>
            <a:r>
              <a:rPr lang="es-ES" dirty="0"/>
              <a:t>Un factor importante que debe considerarse al seleccionar cualquier lenguaje de programación es la cantidad de control directo que se necesita para operar el hardware.</a:t>
            </a:r>
            <a:endParaRPr lang="en-US" dirty="0"/>
          </a:p>
        </p:txBody>
      </p:sp>
    </p:spTree>
    <p:extLst>
      <p:ext uri="{BB962C8B-B14F-4D97-AF65-F5344CB8AC3E}">
        <p14:creationId xmlns:p14="http://schemas.microsoft.com/office/powerpoint/2010/main" val="3094905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TRADUCTORES DE LENGUAJE</a:t>
            </a:r>
            <a:endParaRPr lang="en-US" dirty="0"/>
          </a:p>
        </p:txBody>
      </p:sp>
      <p:sp>
        <p:nvSpPr>
          <p:cNvPr id="3" name="Content Placeholder 2"/>
          <p:cNvSpPr>
            <a:spLocks noGrp="1"/>
          </p:cNvSpPr>
          <p:nvPr>
            <p:ph idx="1"/>
          </p:nvPr>
        </p:nvSpPr>
        <p:spPr/>
        <p:txBody>
          <a:bodyPr>
            <a:normAutofit/>
          </a:bodyPr>
          <a:lstStyle/>
          <a:p>
            <a:r>
              <a:rPr lang="es-ES" u="sng" dirty="0"/>
              <a:t>Traductor de lenguaje</a:t>
            </a:r>
            <a:r>
              <a:rPr lang="es-ES" dirty="0"/>
              <a:t>. Software de sistemas que convierte un código fuente del programador en su equivalente en lenguaje maquina.</a:t>
            </a:r>
          </a:p>
          <a:p>
            <a:r>
              <a:rPr lang="es-ES" u="sng" dirty="0"/>
              <a:t>Código fuente</a:t>
            </a:r>
            <a:r>
              <a:rPr lang="es-ES" dirty="0"/>
              <a:t>. Código de programación de nivel alto escrito por el programador.</a:t>
            </a:r>
          </a:p>
          <a:p>
            <a:r>
              <a:rPr lang="es-ES" u="sng" dirty="0"/>
              <a:t>Código objeto. </a:t>
            </a:r>
            <a:r>
              <a:rPr lang="es-ES" dirty="0"/>
              <a:t>Otro nombre para el código de lenguaje maquina.</a:t>
            </a:r>
          </a:p>
          <a:p>
            <a:r>
              <a:rPr lang="es-ES" u="sng" dirty="0"/>
              <a:t>Intérprete</a:t>
            </a:r>
            <a:r>
              <a:rPr lang="es-ES" dirty="0"/>
              <a:t>. Traductor de lenguajes que convierte, ala vez, una sentencia de programa a un código de máquina.</a:t>
            </a:r>
          </a:p>
        </p:txBody>
      </p:sp>
    </p:spTree>
    <p:extLst>
      <p:ext uri="{BB962C8B-B14F-4D97-AF65-F5344CB8AC3E}">
        <p14:creationId xmlns:p14="http://schemas.microsoft.com/office/powerpoint/2010/main" val="2330666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Clasificacion</a:t>
            </a:r>
            <a:endParaRPr lang="en-US" dirty="0"/>
          </a:p>
        </p:txBody>
      </p:sp>
      <p:sp>
        <p:nvSpPr>
          <p:cNvPr id="3" name="Content Placeholder 2"/>
          <p:cNvSpPr>
            <a:spLocks noGrp="1"/>
          </p:cNvSpPr>
          <p:nvPr>
            <p:ph idx="1"/>
          </p:nvPr>
        </p:nvSpPr>
        <p:spPr/>
        <p:txBody>
          <a:bodyPr>
            <a:normAutofit lnSpcReduction="10000"/>
          </a:bodyPr>
          <a:lstStyle/>
          <a:p>
            <a:r>
              <a:rPr lang="es-ES" b="1" dirty="0"/>
              <a:t>Imperativos</a:t>
            </a:r>
            <a:r>
              <a:rPr lang="es-ES" dirty="0"/>
              <a:t>: Son aquellos lenguajes, que basan su funcionamiento en un conjunto de instrucciones secuenciales, las cuales, al ejecutarse, van alterando las regiones de memoria donde residen todos los valores de las variables involucradas en el problema que se plantea resolver. Es decir, se cambia progresivamente el estado del sistema, hasta alcanzar la solución del problema Como un ejemplo calcular el factorial de un número positivo x. </a:t>
            </a:r>
          </a:p>
          <a:p>
            <a:pPr marL="0" indent="0">
              <a:buNone/>
            </a:pPr>
            <a:r>
              <a:rPr lang="es-ES" dirty="0"/>
              <a:t>READ(x); </a:t>
            </a:r>
          </a:p>
          <a:p>
            <a:pPr marL="0" indent="0">
              <a:buNone/>
            </a:pPr>
            <a:r>
              <a:rPr lang="es-ES" dirty="0" err="1"/>
              <a:t>fac</a:t>
            </a:r>
            <a:r>
              <a:rPr lang="es-ES" dirty="0"/>
              <a:t> := 1 ; </a:t>
            </a:r>
          </a:p>
          <a:p>
            <a:pPr marL="0" indent="0">
              <a:buNone/>
            </a:pPr>
            <a:r>
              <a:rPr lang="es-ES" dirty="0" err="1"/>
              <a:t>for</a:t>
            </a:r>
            <a:r>
              <a:rPr lang="es-ES" dirty="0"/>
              <a:t> i = 1 to x { </a:t>
            </a:r>
            <a:r>
              <a:rPr lang="es-ES" dirty="0" err="1"/>
              <a:t>fac</a:t>
            </a:r>
            <a:r>
              <a:rPr lang="es-ES" dirty="0"/>
              <a:t> := </a:t>
            </a:r>
            <a:r>
              <a:rPr lang="es-ES" dirty="0" err="1"/>
              <a:t>fac</a:t>
            </a:r>
            <a:r>
              <a:rPr lang="es-ES" dirty="0"/>
              <a:t> * i ; } </a:t>
            </a:r>
          </a:p>
          <a:p>
            <a:pPr marL="0" indent="0">
              <a:buNone/>
            </a:pPr>
            <a:r>
              <a:rPr lang="es-ES" dirty="0"/>
              <a:t>WRITELN(</a:t>
            </a:r>
            <a:r>
              <a:rPr lang="es-ES" dirty="0" err="1"/>
              <a:t>fac</a:t>
            </a:r>
            <a:r>
              <a:rPr lang="es-ES" dirty="0"/>
              <a:t>); </a:t>
            </a:r>
            <a:endParaRPr lang="en-US" dirty="0"/>
          </a:p>
        </p:txBody>
      </p:sp>
    </p:spTree>
    <p:extLst>
      <p:ext uri="{BB962C8B-B14F-4D97-AF65-F5344CB8AC3E}">
        <p14:creationId xmlns:p14="http://schemas.microsoft.com/office/powerpoint/2010/main" val="1488185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Clasificacion</a:t>
            </a:r>
            <a:endParaRPr lang="en-US" dirty="0"/>
          </a:p>
        </p:txBody>
      </p:sp>
      <p:sp>
        <p:nvSpPr>
          <p:cNvPr id="3" name="Content Placeholder 2"/>
          <p:cNvSpPr>
            <a:spLocks noGrp="1"/>
          </p:cNvSpPr>
          <p:nvPr>
            <p:ph idx="1"/>
          </p:nvPr>
        </p:nvSpPr>
        <p:spPr/>
        <p:txBody>
          <a:bodyPr/>
          <a:lstStyle/>
          <a:p>
            <a:r>
              <a:rPr lang="es-ES" b="1" dirty="0"/>
              <a:t>Declarativos</a:t>
            </a:r>
            <a:r>
              <a:rPr lang="es-ES" dirty="0"/>
              <a:t>: En este paradigma, más que el ¿cómo? desarrollar paso a paso un proceso, nos interesa el ¿qué? deseamos obtener a través del programa. Quizás el lenguaje declarativo que nos sea más familiar, es SQL, el cual es utilizado para interactuar con la información de bases de datos, concentrándose (como se podrá observar en el siguiente ejemplo), sólo en los resultados que van a ser obtenidos, dejándole al traductor la tarea de cómo llegar a ellos y presentárnoslos</a:t>
            </a:r>
          </a:p>
          <a:p>
            <a:endParaRPr lang="es-ES" dirty="0"/>
          </a:p>
          <a:p>
            <a:r>
              <a:rPr lang="en-US" dirty="0"/>
              <a:t>SELECT * FROM </a:t>
            </a:r>
            <a:r>
              <a:rPr lang="en-US" dirty="0" err="1"/>
              <a:t>alumnos</a:t>
            </a:r>
            <a:r>
              <a:rPr lang="en-US" dirty="0"/>
              <a:t> WHERE </a:t>
            </a:r>
            <a:r>
              <a:rPr lang="en-US" dirty="0" err="1"/>
              <a:t>sexo</a:t>
            </a:r>
            <a:r>
              <a:rPr lang="en-US" dirty="0"/>
              <a:t> = "M" ORDER BY </a:t>
            </a:r>
            <a:r>
              <a:rPr lang="en-US" dirty="0" err="1"/>
              <a:t>edad</a:t>
            </a:r>
            <a:r>
              <a:rPr lang="en-US" dirty="0"/>
              <a:t> </a:t>
            </a:r>
          </a:p>
        </p:txBody>
      </p:sp>
    </p:spTree>
    <p:extLst>
      <p:ext uri="{BB962C8B-B14F-4D97-AF65-F5344CB8AC3E}">
        <p14:creationId xmlns:p14="http://schemas.microsoft.com/office/powerpoint/2010/main" val="3859403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s-ES" dirty="0"/>
              <a:t>Dentro de este paradigma, se encuentran dos estilos distintos de programación, cada uno de los cuales posee su propia lógica </a:t>
            </a:r>
          </a:p>
          <a:p>
            <a:endParaRPr lang="es-ES" dirty="0"/>
          </a:p>
          <a:p>
            <a:pPr marL="0" indent="0">
              <a:buNone/>
            </a:pPr>
            <a:r>
              <a:rPr lang="es-ES" i="1" dirty="0"/>
              <a:t>A- Funcionales</a:t>
            </a:r>
            <a:r>
              <a:rPr lang="es-ES" dirty="0"/>
              <a:t>: Son lenguajes basados en funciones, las cuales se representan mediante expresiones, que nos permiten obtener ciertos resultados a partir de una serie de argumentos. ejemplo del factorial escrito en el lenguaje funcional </a:t>
            </a:r>
            <a:r>
              <a:rPr lang="es-ES" dirty="0" err="1"/>
              <a:t>Haskell</a:t>
            </a:r>
            <a:r>
              <a:rPr lang="es-ES" dirty="0"/>
              <a:t>.</a:t>
            </a:r>
          </a:p>
          <a:p>
            <a:pPr marL="2011680" lvl="8"/>
            <a:r>
              <a:rPr lang="sv-SE" sz="3200" dirty="0"/>
              <a:t>fac :: Integer -&gt; Integer </a:t>
            </a:r>
          </a:p>
          <a:p>
            <a:pPr marL="2011680" lvl="8"/>
            <a:r>
              <a:rPr lang="sv-SE" sz="3200" dirty="0"/>
              <a:t>fac 0 = 1 f</a:t>
            </a:r>
          </a:p>
          <a:p>
            <a:pPr marL="2011680" lvl="8"/>
            <a:r>
              <a:rPr lang="sv-SE" sz="3200" dirty="0"/>
              <a:t>fac x = x * fac (x-1) </a:t>
            </a:r>
            <a:endParaRPr lang="es-ES" sz="3200" dirty="0"/>
          </a:p>
          <a:p>
            <a:endParaRPr lang="es-ES" dirty="0"/>
          </a:p>
          <a:p>
            <a:endParaRPr lang="en-US" dirty="0"/>
          </a:p>
        </p:txBody>
      </p:sp>
    </p:spTree>
    <p:extLst>
      <p:ext uri="{BB962C8B-B14F-4D97-AF65-F5344CB8AC3E}">
        <p14:creationId xmlns:p14="http://schemas.microsoft.com/office/powerpoint/2010/main" val="228096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s-ES" i="1" dirty="0"/>
              <a:t>B- Lógicos</a:t>
            </a:r>
            <a:r>
              <a:rPr lang="es-ES" dirty="0"/>
              <a:t>: Este tipo de lenguajes se basan en el cálculo de predicados, la cual es una teoría matemática que permite entre otras cosas, lograr que un ordenador basándose en un conjunto de hechos y de reglas lógicas, pueda derivar en soluciones inteligentes. El mismo ejemplo del factorial, se vería de la siguiente manera, escrito en PROLOG. </a:t>
            </a:r>
          </a:p>
          <a:p>
            <a:endParaRPr lang="es-ES" dirty="0"/>
          </a:p>
          <a:p>
            <a:pPr marL="0" indent="0">
              <a:buNone/>
            </a:pPr>
            <a:r>
              <a:rPr lang="es-ES" dirty="0"/>
              <a:t>factorial (0, 1) </a:t>
            </a:r>
          </a:p>
          <a:p>
            <a:pPr marL="0" indent="0">
              <a:buNone/>
            </a:pPr>
            <a:r>
              <a:rPr lang="es-ES" dirty="0"/>
              <a:t>factorial (X, </a:t>
            </a:r>
            <a:r>
              <a:rPr lang="es-ES" dirty="0" err="1"/>
              <a:t>Fac</a:t>
            </a:r>
            <a:r>
              <a:rPr lang="es-ES" dirty="0"/>
              <a:t>) :- Y </a:t>
            </a:r>
            <a:r>
              <a:rPr lang="es-ES" dirty="0" err="1"/>
              <a:t>is</a:t>
            </a:r>
            <a:r>
              <a:rPr lang="es-ES" dirty="0"/>
              <a:t> X-1, </a:t>
            </a:r>
            <a:r>
              <a:rPr lang="es-ES" dirty="0" err="1"/>
              <a:t>fac</a:t>
            </a:r>
            <a:r>
              <a:rPr lang="es-ES" dirty="0"/>
              <a:t>(Y, F2), </a:t>
            </a:r>
            <a:r>
              <a:rPr lang="es-ES" dirty="0" err="1"/>
              <a:t>Fac</a:t>
            </a:r>
            <a:r>
              <a:rPr lang="es-ES" dirty="0"/>
              <a:t> </a:t>
            </a:r>
            <a:r>
              <a:rPr lang="es-ES" dirty="0" err="1"/>
              <a:t>is</a:t>
            </a:r>
            <a:r>
              <a:rPr lang="es-ES" dirty="0"/>
              <a:t> F2 * X . </a:t>
            </a:r>
            <a:endParaRPr lang="en-US" dirty="0"/>
          </a:p>
        </p:txBody>
      </p:sp>
    </p:spTree>
    <p:extLst>
      <p:ext uri="{BB962C8B-B14F-4D97-AF65-F5344CB8AC3E}">
        <p14:creationId xmlns:p14="http://schemas.microsoft.com/office/powerpoint/2010/main" val="1539641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s-ES" b="1" dirty="0"/>
              <a:t>Orientados a Objetos: </a:t>
            </a:r>
            <a:r>
              <a:rPr lang="es-ES" dirty="0"/>
              <a:t>Este último paradigma, como se puede observar en la figura 1, algunas veces se mezcla con alguno de los otros 2 modelos, sin embargo mantiene características propias, que lo diferencian claramente. Los programas de este tipo, se concentran en los objetos que van a manipular, y no en la lógica requerida para manipularlos.</a:t>
            </a:r>
          </a:p>
          <a:p>
            <a:r>
              <a:rPr lang="es-ES" dirty="0"/>
              <a:t>Ejemplos de objetos pueden ser: estudiantes, coches, casas </a:t>
            </a:r>
            <a:r>
              <a:rPr lang="es-ES" dirty="0" err="1"/>
              <a:t>etc</a:t>
            </a:r>
            <a:r>
              <a:rPr lang="es-ES" dirty="0"/>
              <a:t>, cada uno de los cuales tendrá ciertas funciones (métodos) y ciertos valores que los identifican, teniendo además, la facultad de comunicarse entre ellos a través del paso de mensajes. Cabe mencionar con más detalle los elementos fundamentales que deben de poseer este tipo de lenguajes</a:t>
            </a:r>
            <a:endParaRPr lang="en-US" dirty="0"/>
          </a:p>
        </p:txBody>
      </p:sp>
    </p:spTree>
    <p:extLst>
      <p:ext uri="{BB962C8B-B14F-4D97-AF65-F5344CB8AC3E}">
        <p14:creationId xmlns:p14="http://schemas.microsoft.com/office/powerpoint/2010/main" val="3698252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514350" indent="-514350">
              <a:buFont typeface="+mj-lt"/>
              <a:buAutoNum type="alphaUcPeriod"/>
            </a:pPr>
            <a:r>
              <a:rPr lang="es-ES" dirty="0"/>
              <a:t>Abstracción: Determinación de las características de los objetos, que sirven para identificarlos y hacerlos diferentes a los demás.</a:t>
            </a:r>
          </a:p>
          <a:p>
            <a:pPr marL="514350" indent="-514350">
              <a:buFont typeface="+mj-lt"/>
              <a:buAutoNum type="alphaUcPeriod"/>
            </a:pPr>
            <a:r>
              <a:rPr lang="es-ES" dirty="0"/>
              <a:t>Encapsulamiento: Es el proceso que agrupa y almacena los elementos que definen la estructura y el comportamiento de una abstracción, en un mismo lugar. </a:t>
            </a:r>
          </a:p>
          <a:p>
            <a:pPr marL="514350" indent="-514350">
              <a:buFont typeface="+mj-lt"/>
              <a:buAutoNum type="alphaUcPeriod"/>
            </a:pPr>
            <a:r>
              <a:rPr lang="es-ES" dirty="0"/>
              <a:t>Modularidad: Es la propiedad de agrupar las abstracciones que guardan cierta relación lógica, y a la vez minimizar la interdependencia entre las diversas agrupaciones. </a:t>
            </a:r>
          </a:p>
          <a:p>
            <a:pPr marL="514350" indent="-514350">
              <a:buFont typeface="+mj-lt"/>
              <a:buAutoNum type="alphaUcPeriod"/>
            </a:pPr>
            <a:r>
              <a:rPr lang="es-ES" dirty="0"/>
              <a:t>Jerarquía: Consiste en establecer un orden o una clasificación de las abstracciones. </a:t>
            </a:r>
          </a:p>
          <a:p>
            <a:pPr marL="514350" indent="-514350">
              <a:buFont typeface="+mj-lt"/>
              <a:buAutoNum type="alphaUcPeriod"/>
            </a:pPr>
            <a:endParaRPr lang="en-US" dirty="0"/>
          </a:p>
        </p:txBody>
      </p:sp>
    </p:spTree>
    <p:extLst>
      <p:ext uri="{BB962C8B-B14F-4D97-AF65-F5344CB8AC3E}">
        <p14:creationId xmlns:p14="http://schemas.microsoft.com/office/powerpoint/2010/main" val="371680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1252924" y="2375189"/>
            <a:ext cx="9107245" cy="2986520"/>
          </a:xfrm>
          <a:prstGeom prst="rect">
            <a:avLst/>
          </a:prstGeom>
        </p:spPr>
      </p:pic>
    </p:spTree>
    <p:extLst>
      <p:ext uri="{BB962C8B-B14F-4D97-AF65-F5344CB8AC3E}">
        <p14:creationId xmlns:p14="http://schemas.microsoft.com/office/powerpoint/2010/main" val="1368881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s-ES" b="1" dirty="0"/>
              <a:t>Lenguajes Ensamblados</a:t>
            </a:r>
            <a:r>
              <a:rPr lang="es-ES" dirty="0"/>
              <a:t>: Se refieren al lenguaje ensamblador, que viene a ser una representación simbólica de las instrucciones correspondientes al lenguaje </a:t>
            </a:r>
            <a:r>
              <a:rPr lang="es-ES" dirty="0" err="1"/>
              <a:t>ensamblafor</a:t>
            </a:r>
            <a:r>
              <a:rPr lang="es-ES" dirty="0"/>
              <a:t> de alguna arquitectura específica, con lo que, casi siempre, la correspondencia entre las instrucciones de este lenguaje, y las del lenguaje máquina son de 1 a 1, si bien existen algunas excepciones, que dan lugar a lo que se conoce como lenguajes macro-ensambladores</a:t>
            </a:r>
            <a:endParaRPr lang="en-US" dirty="0"/>
          </a:p>
        </p:txBody>
      </p:sp>
    </p:spTree>
    <p:extLst>
      <p:ext uri="{BB962C8B-B14F-4D97-AF65-F5344CB8AC3E}">
        <p14:creationId xmlns:p14="http://schemas.microsoft.com/office/powerpoint/2010/main" val="710487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98813" y="1935480"/>
            <a:ext cx="7268442" cy="2019300"/>
          </a:xfrm>
          <a:prstGeom prst="rect">
            <a:avLst/>
          </a:prstGeom>
        </p:spPr>
      </p:pic>
      <p:sp>
        <p:nvSpPr>
          <p:cNvPr id="2" name="Title 1"/>
          <p:cNvSpPr>
            <a:spLocks noGrp="1"/>
          </p:cNvSpPr>
          <p:nvPr>
            <p:ph type="title"/>
          </p:nvPr>
        </p:nvSpPr>
        <p:spPr/>
        <p:txBody>
          <a:bodyPr>
            <a:noAutofit/>
          </a:bodyPr>
          <a:lstStyle/>
          <a:p>
            <a:r>
              <a:rPr lang="es-ES" sz="3600" dirty="0"/>
              <a:t>Ejemplos de programas en Ensamblador 8086</a:t>
            </a:r>
            <a:endParaRPr lang="en-US" sz="3600" dirty="0"/>
          </a:p>
        </p:txBody>
      </p:sp>
      <p:pic>
        <p:nvPicPr>
          <p:cNvPr id="7" name="Content Placeholder 6"/>
          <p:cNvPicPr>
            <a:picLocks noGrp="1" noChangeAspect="1"/>
          </p:cNvPicPr>
          <p:nvPr>
            <p:ph idx="1"/>
          </p:nvPr>
        </p:nvPicPr>
        <p:blipFill>
          <a:blip r:embed="rId3"/>
          <a:stretch>
            <a:fillRect/>
          </a:stretch>
        </p:blipFill>
        <p:spPr>
          <a:xfrm>
            <a:off x="3886253" y="2990937"/>
            <a:ext cx="3362325" cy="3209925"/>
          </a:xfrm>
          <a:prstGeom prst="rect">
            <a:avLst/>
          </a:prstGeom>
        </p:spPr>
      </p:pic>
      <p:pic>
        <p:nvPicPr>
          <p:cNvPr id="5" name="Picture 4"/>
          <p:cNvPicPr>
            <a:picLocks noChangeAspect="1"/>
          </p:cNvPicPr>
          <p:nvPr/>
        </p:nvPicPr>
        <p:blipFill>
          <a:blip r:embed="rId4"/>
          <a:stretch>
            <a:fillRect/>
          </a:stretch>
        </p:blipFill>
        <p:spPr>
          <a:xfrm>
            <a:off x="609600" y="3954780"/>
            <a:ext cx="1866900" cy="2419350"/>
          </a:xfrm>
          <a:prstGeom prst="rect">
            <a:avLst/>
          </a:prstGeom>
        </p:spPr>
      </p:pic>
      <p:pic>
        <p:nvPicPr>
          <p:cNvPr id="6" name="Picture 5"/>
          <p:cNvPicPr>
            <a:picLocks noChangeAspect="1"/>
          </p:cNvPicPr>
          <p:nvPr/>
        </p:nvPicPr>
        <p:blipFill>
          <a:blip r:embed="rId5"/>
          <a:stretch>
            <a:fillRect/>
          </a:stretch>
        </p:blipFill>
        <p:spPr>
          <a:xfrm>
            <a:off x="7687540" y="2340293"/>
            <a:ext cx="4281002" cy="2896726"/>
          </a:xfrm>
          <a:prstGeom prst="rect">
            <a:avLst/>
          </a:prstGeom>
        </p:spPr>
      </p:pic>
    </p:spTree>
    <p:extLst>
      <p:ext uri="{BB962C8B-B14F-4D97-AF65-F5344CB8AC3E}">
        <p14:creationId xmlns:p14="http://schemas.microsoft.com/office/powerpoint/2010/main" val="87693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s-ES" b="1" dirty="0"/>
              <a:t>Lenguajes Compilados</a:t>
            </a:r>
            <a:r>
              <a:rPr lang="es-ES" dirty="0"/>
              <a:t>: Son aquellos, que son traducidos de un lenguaje de alto nivel (como FORTRAN o PASCAL) a lenguaje máquina o bien a lenguaje ensamblador, produciendo un programa objeto permanente. </a:t>
            </a:r>
          </a:p>
          <a:p>
            <a:r>
              <a:rPr lang="es-ES" dirty="0"/>
              <a:t>Dentro de los lenguajes de programación que son compilados tenemos la familia </a:t>
            </a:r>
            <a:r>
              <a:rPr lang="es-ES" b="1" dirty="0"/>
              <a:t>C</a:t>
            </a:r>
            <a:r>
              <a:rPr lang="es-ES" dirty="0"/>
              <a:t> que incluye a </a:t>
            </a:r>
            <a:r>
              <a:rPr lang="es-ES" b="1" dirty="0"/>
              <a:t>C++, </a:t>
            </a:r>
            <a:r>
              <a:rPr lang="es-ES" b="1" dirty="0" err="1"/>
              <a:t>Objective</a:t>
            </a:r>
            <a:r>
              <a:rPr lang="es-ES" b="1" dirty="0"/>
              <a:t> C, C#</a:t>
            </a:r>
            <a:r>
              <a:rPr lang="es-ES" dirty="0"/>
              <a:t> y también otros como </a:t>
            </a:r>
            <a:r>
              <a:rPr lang="es-ES" b="1" dirty="0"/>
              <a:t>Fortran, Pascal, </a:t>
            </a:r>
            <a:r>
              <a:rPr lang="es-ES" b="1" dirty="0" err="1"/>
              <a:t>Haskell</a:t>
            </a:r>
            <a:r>
              <a:rPr lang="es-ES" b="1" dirty="0"/>
              <a:t> y Visual Basic</a:t>
            </a:r>
            <a:r>
              <a:rPr lang="es-ES" dirty="0"/>
              <a:t>.</a:t>
            </a:r>
          </a:p>
          <a:p>
            <a:r>
              <a:rPr lang="es-ES" dirty="0"/>
              <a:t>A los lenguajes compilados los vemos más en software de escritorio ya que requieren de mayores recursos y de acceso a archivos determinados. También por el peso mayor que estos suelen tener en sus archivos ejecutables.</a:t>
            </a:r>
            <a:endParaRPr lang="en-US" dirty="0"/>
          </a:p>
        </p:txBody>
      </p:sp>
    </p:spTree>
    <p:extLst>
      <p:ext uri="{BB962C8B-B14F-4D97-AF65-F5344CB8AC3E}">
        <p14:creationId xmlns:p14="http://schemas.microsoft.com/office/powerpoint/2010/main" val="2487044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Ejemplo</a:t>
            </a:r>
            <a:r>
              <a:rPr lang="en-US" dirty="0"/>
              <a:t> de </a:t>
            </a:r>
            <a:r>
              <a:rPr lang="en-US" dirty="0" err="1"/>
              <a:t>Arreglo</a:t>
            </a:r>
            <a:r>
              <a:rPr lang="en-US" dirty="0"/>
              <a:t> </a:t>
            </a:r>
            <a:r>
              <a:rPr lang="en-US" dirty="0" err="1"/>
              <a:t>en</a:t>
            </a:r>
            <a:r>
              <a:rPr lang="en-US" dirty="0"/>
              <a:t> Pascal</a:t>
            </a:r>
          </a:p>
        </p:txBody>
      </p:sp>
      <p:pic>
        <p:nvPicPr>
          <p:cNvPr id="4" name="Content Placeholder 3"/>
          <p:cNvPicPr>
            <a:picLocks noGrp="1" noChangeAspect="1"/>
          </p:cNvPicPr>
          <p:nvPr>
            <p:ph idx="1"/>
          </p:nvPr>
        </p:nvPicPr>
        <p:blipFill>
          <a:blip r:embed="rId2"/>
          <a:stretch>
            <a:fillRect/>
          </a:stretch>
        </p:blipFill>
        <p:spPr>
          <a:xfrm>
            <a:off x="464127" y="2067285"/>
            <a:ext cx="6981825" cy="4000500"/>
          </a:xfrm>
          <a:prstGeom prst="rect">
            <a:avLst/>
          </a:prstGeom>
        </p:spPr>
      </p:pic>
      <p:pic>
        <p:nvPicPr>
          <p:cNvPr id="5" name="Picture 4"/>
          <p:cNvPicPr>
            <a:picLocks noChangeAspect="1"/>
          </p:cNvPicPr>
          <p:nvPr/>
        </p:nvPicPr>
        <p:blipFill>
          <a:blip r:embed="rId3"/>
          <a:stretch>
            <a:fillRect/>
          </a:stretch>
        </p:blipFill>
        <p:spPr>
          <a:xfrm>
            <a:off x="6096000" y="3066184"/>
            <a:ext cx="5381625" cy="2762250"/>
          </a:xfrm>
          <a:prstGeom prst="rect">
            <a:avLst/>
          </a:prstGeom>
        </p:spPr>
      </p:pic>
    </p:spTree>
    <p:extLst>
      <p:ext uri="{BB962C8B-B14F-4D97-AF65-F5344CB8AC3E}">
        <p14:creationId xmlns:p14="http://schemas.microsoft.com/office/powerpoint/2010/main" val="790946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s-ES" b="1" dirty="0"/>
              <a:t>Lenguajes Interpretados</a:t>
            </a:r>
            <a:r>
              <a:rPr lang="es-ES" dirty="0"/>
              <a:t>: Estos lenguajes, tienen la particularidad, de que no producen código objeto, sino que cada instrucción es analizada y ejecutada a la vez, lo que ofrece mucha interacción con los usuarios, pero a la vez resultan ineficientes, cuando se desea ejecutar repetitivamente un programa.</a:t>
            </a:r>
          </a:p>
          <a:p>
            <a:r>
              <a:rPr lang="es-ES" dirty="0"/>
              <a:t>El uso de los lenguajes interpretados ha venido en crecimiento y cuyos máximos representantes son los lenguajes usados para el desarrollo web entre estos </a:t>
            </a:r>
            <a:r>
              <a:rPr lang="es-ES" b="1" dirty="0"/>
              <a:t>Ruby, Python, PHP</a:t>
            </a:r>
            <a:r>
              <a:rPr lang="es-ES" dirty="0"/>
              <a:t> (se interpreta del lado del servidor), </a:t>
            </a:r>
            <a:r>
              <a:rPr lang="es-ES" b="1" dirty="0"/>
              <a:t>JavaScript</a:t>
            </a:r>
            <a:r>
              <a:rPr lang="es-ES" dirty="0"/>
              <a:t> y otros como </a:t>
            </a:r>
            <a:r>
              <a:rPr lang="es-ES" b="1" dirty="0"/>
              <a:t>Perl, </a:t>
            </a:r>
            <a:r>
              <a:rPr lang="es-ES" b="1" dirty="0" err="1"/>
              <a:t>Smalltalk</a:t>
            </a:r>
            <a:r>
              <a:rPr lang="es-ES" b="1" dirty="0"/>
              <a:t>, MATLAB, </a:t>
            </a:r>
            <a:r>
              <a:rPr lang="es-ES" b="1" dirty="0" err="1"/>
              <a:t>Mathematica</a:t>
            </a:r>
            <a:r>
              <a:rPr lang="es-ES" dirty="0"/>
              <a:t> (el que usan en </a:t>
            </a:r>
            <a:r>
              <a:rPr lang="es-ES" dirty="0" err="1"/>
              <a:t>Wolfram</a:t>
            </a:r>
            <a:r>
              <a:rPr lang="es-ES" dirty="0"/>
              <a:t> </a:t>
            </a:r>
            <a:r>
              <a:rPr lang="es-ES" dirty="0" err="1"/>
              <a:t>Alpha</a:t>
            </a:r>
            <a:r>
              <a:rPr lang="es-ES" dirty="0"/>
              <a:t>)</a:t>
            </a:r>
          </a:p>
          <a:p>
            <a:r>
              <a:rPr lang="es-ES" dirty="0"/>
              <a:t>La principal desventaja de estos lenguajes es el tiempo que necesitan para ser interpretados. Al tener que ser traducido a lenguaje máquina con cada ejecución, este proceso es más lento que en los lenguajes compilados, sin embargo, algunos lenguajes poseen una máquina virtual que hace una traducción a lenguaje intermedio con lo cual el traducirlo a lenguaje de bajo nivel toma menos tiempo.</a:t>
            </a:r>
            <a:endParaRPr lang="en-US" dirty="0"/>
          </a:p>
        </p:txBody>
      </p:sp>
    </p:spTree>
    <p:extLst>
      <p:ext uri="{BB962C8B-B14F-4D97-AF65-F5344CB8AC3E}">
        <p14:creationId xmlns:p14="http://schemas.microsoft.com/office/powerpoint/2010/main" val="1901521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Ejemplo</a:t>
            </a:r>
            <a:r>
              <a:rPr lang="en-US" dirty="0"/>
              <a:t> de Ruby</a:t>
            </a:r>
          </a:p>
        </p:txBody>
      </p:sp>
      <p:pic>
        <p:nvPicPr>
          <p:cNvPr id="5" name="Content Placeholder 4"/>
          <p:cNvPicPr>
            <a:picLocks noGrp="1" noChangeAspect="1"/>
          </p:cNvPicPr>
          <p:nvPr>
            <p:ph idx="1"/>
          </p:nvPr>
        </p:nvPicPr>
        <p:blipFill>
          <a:blip r:embed="rId2"/>
          <a:stretch>
            <a:fillRect/>
          </a:stretch>
        </p:blipFill>
        <p:spPr>
          <a:xfrm>
            <a:off x="609600" y="3330356"/>
            <a:ext cx="4381500" cy="3124200"/>
          </a:xfrm>
          <a:prstGeom prst="rect">
            <a:avLst/>
          </a:prstGeom>
        </p:spPr>
      </p:pic>
      <p:pic>
        <p:nvPicPr>
          <p:cNvPr id="4" name="Picture 3"/>
          <p:cNvPicPr>
            <a:picLocks noChangeAspect="1"/>
          </p:cNvPicPr>
          <p:nvPr/>
        </p:nvPicPr>
        <p:blipFill>
          <a:blip r:embed="rId3"/>
          <a:stretch>
            <a:fillRect/>
          </a:stretch>
        </p:blipFill>
        <p:spPr>
          <a:xfrm>
            <a:off x="609600" y="1935480"/>
            <a:ext cx="2518143" cy="1306484"/>
          </a:xfrm>
          <a:prstGeom prst="rect">
            <a:avLst/>
          </a:prstGeom>
        </p:spPr>
      </p:pic>
      <p:pic>
        <p:nvPicPr>
          <p:cNvPr id="6" name="Picture 5"/>
          <p:cNvPicPr>
            <a:picLocks noChangeAspect="1"/>
          </p:cNvPicPr>
          <p:nvPr/>
        </p:nvPicPr>
        <p:blipFill>
          <a:blip r:embed="rId4"/>
          <a:stretch>
            <a:fillRect/>
          </a:stretch>
        </p:blipFill>
        <p:spPr>
          <a:xfrm>
            <a:off x="5708072" y="1847088"/>
            <a:ext cx="3810000" cy="4343400"/>
          </a:xfrm>
          <a:prstGeom prst="rect">
            <a:avLst/>
          </a:prstGeom>
        </p:spPr>
      </p:pic>
    </p:spTree>
    <p:extLst>
      <p:ext uri="{BB962C8B-B14F-4D97-AF65-F5344CB8AC3E}">
        <p14:creationId xmlns:p14="http://schemas.microsoft.com/office/powerpoint/2010/main" val="2288730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s-ES" b="1" dirty="0"/>
              <a:t>Lenguajes </a:t>
            </a:r>
            <a:r>
              <a:rPr lang="es-ES" b="1" dirty="0" err="1"/>
              <a:t>Preprocesados</a:t>
            </a:r>
            <a:r>
              <a:rPr lang="es-ES" dirty="0"/>
              <a:t>: Son lenguajes que son traducidos primeramente a un lenguaje intermedio de más bajo nivel, para posteriormente volverlos a traducir y producir el programa objeto. Este tipo de lenguajes fueron creados, con la idea de proporcionar un lenguaje más potente que el lenguaje intermedio, mediante la implementación de algunas macroinstrucciones.</a:t>
            </a:r>
          </a:p>
          <a:p>
            <a:r>
              <a:rPr lang="es-ES" dirty="0"/>
              <a:t>El </a:t>
            </a:r>
            <a:r>
              <a:rPr lang="es-ES" dirty="0" err="1"/>
              <a:t>preprocesado</a:t>
            </a:r>
            <a:r>
              <a:rPr lang="es-ES" dirty="0"/>
              <a:t> es una fase que comparten algunos lenguajes de programación, anterior a la fase de compilación propiamente dicha. Se aplica generalmente sobre el archivo principal que contiene el código fuente.</a:t>
            </a:r>
            <a:endParaRPr lang="en-US" dirty="0"/>
          </a:p>
        </p:txBody>
      </p:sp>
    </p:spTree>
    <p:extLst>
      <p:ext uri="{BB962C8B-B14F-4D97-AF65-F5344CB8AC3E}">
        <p14:creationId xmlns:p14="http://schemas.microsoft.com/office/powerpoint/2010/main" val="747586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Ejemplo</a:t>
            </a:r>
            <a:r>
              <a:rPr lang="en-US" dirty="0"/>
              <a:t> del </a:t>
            </a:r>
            <a:r>
              <a:rPr lang="en-US" dirty="0" err="1"/>
              <a:t>Preproceso</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1135085" y="2599113"/>
            <a:ext cx="7422262" cy="3061854"/>
          </a:xfrm>
          <a:prstGeom prst="rect">
            <a:avLst/>
          </a:prstGeom>
        </p:spPr>
      </p:pic>
    </p:spTree>
    <p:extLst>
      <p:ext uri="{BB962C8B-B14F-4D97-AF65-F5344CB8AC3E}">
        <p14:creationId xmlns:p14="http://schemas.microsoft.com/office/powerpoint/2010/main" val="1092499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s-ES" b="1" dirty="0"/>
              <a:t>Lenguajes de cuarta generación 4GL</a:t>
            </a:r>
            <a:r>
              <a:rPr lang="es-ES" dirty="0"/>
              <a:t>: Estos lenguajes se distinguen por formar parte de un entorno de desarrollo, que comprende el manejador de una base de datos, y todo lo que de esto se deriva, como la administración de un diccionario de datos, el control de accesos, el manejo de la consistencia de la información y otras características enfocadas a facilitar los programas de acceso y explotación de la información. Como ejemplos podemos citar a los 4 grandes: PROGRESS, SYSBASE, INFORMIX, y ORACLE</a:t>
            </a:r>
            <a:endParaRPr lang="en-US" dirty="0"/>
          </a:p>
        </p:txBody>
      </p:sp>
    </p:spTree>
    <p:extLst>
      <p:ext uri="{BB962C8B-B14F-4D97-AF65-F5344CB8AC3E}">
        <p14:creationId xmlns:p14="http://schemas.microsoft.com/office/powerpoint/2010/main" val="639773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Ejemplo</a:t>
            </a:r>
            <a:r>
              <a:rPr lang="en-US" dirty="0"/>
              <a:t> de INFORMIX</a:t>
            </a:r>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2701635" y="1831404"/>
            <a:ext cx="5261697" cy="4597271"/>
          </a:xfrm>
          <a:prstGeom prst="rect">
            <a:avLst/>
          </a:prstGeom>
        </p:spPr>
      </p:pic>
    </p:spTree>
    <p:extLst>
      <p:ext uri="{BB962C8B-B14F-4D97-AF65-F5344CB8AC3E}">
        <p14:creationId xmlns:p14="http://schemas.microsoft.com/office/powerpoint/2010/main" val="1558557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s-ES" b="1" dirty="0"/>
              <a:t>Lenguajes Visuales</a:t>
            </a:r>
            <a:r>
              <a:rPr lang="es-ES" dirty="0"/>
              <a:t>. Se les llama de esta manera a los lenguajes que forman parte de una aplicación dotada de una </a:t>
            </a:r>
            <a:r>
              <a:rPr lang="es-ES" dirty="0" err="1"/>
              <a:t>Interfase</a:t>
            </a:r>
            <a:r>
              <a:rPr lang="es-ES" dirty="0"/>
              <a:t> gráfica, la cual por medio de iconos y otras herramientas visuales y simbólicas, pretenden facilitar las tareas rutinarias de los programadores, como son el diseño y desarrollo de formularios e informes. Los ejemplos más comerciales de estos lenguajes son: VISUAL BASIC, VISUAL CAFE, VISUAL FOX, etc.</a:t>
            </a:r>
            <a:endParaRPr lang="en-US" dirty="0"/>
          </a:p>
        </p:txBody>
      </p:sp>
    </p:spTree>
    <p:extLst>
      <p:ext uri="{BB962C8B-B14F-4D97-AF65-F5344CB8AC3E}">
        <p14:creationId xmlns:p14="http://schemas.microsoft.com/office/powerpoint/2010/main" val="424151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s-ES" b="1" dirty="0"/>
              <a:t>Metalenguajes</a:t>
            </a:r>
            <a:r>
              <a:rPr lang="es-ES" dirty="0"/>
              <a:t>: Son lenguajes como XML, SGML y HTML que sirven para definir otros lenguajes, cuyo objetivo es llevar a cabo la estructuración de textos mediante un conjunto de etiquetas, de manera tal, que puedan ser entendidos por los humanos y también procesado por los ordenadores. Estos lenguajes están teniendo un gran auge sobre la plataforma de Internet, en la cual son usados para la creación de documentos, y el intercambio o transferencia de información.</a:t>
            </a:r>
            <a:endParaRPr lang="en-US" dirty="0"/>
          </a:p>
        </p:txBody>
      </p:sp>
    </p:spTree>
    <p:extLst>
      <p:ext uri="{BB962C8B-B14F-4D97-AF65-F5344CB8AC3E}">
        <p14:creationId xmlns:p14="http://schemas.microsoft.com/office/powerpoint/2010/main" val="1723056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s-ES" b="1" dirty="0"/>
              <a:t>Lenguajes de propósito específico</a:t>
            </a:r>
            <a:r>
              <a:rPr lang="es-ES" dirty="0"/>
              <a:t>: Son aquellos lenguajes desarrollados con la finalidad de resolver problemas de una naturaleza muy determinada, tal como SPSS para problemas estadísticos, MATLAB para cálculos científicos y de ingeniería, CAD/CAM para el diseño de piezas y programación de máquinas de control numérico, como tornos y fresadoras, GPSS para simulación de sistemas, CORBA para el manejo de interfaces en ambientes cliente-servidor, etc.</a:t>
            </a:r>
            <a:endParaRPr lang="en-US" dirty="0"/>
          </a:p>
        </p:txBody>
      </p:sp>
    </p:spTree>
    <p:extLst>
      <p:ext uri="{BB962C8B-B14F-4D97-AF65-F5344CB8AC3E}">
        <p14:creationId xmlns:p14="http://schemas.microsoft.com/office/powerpoint/2010/main" val="4088595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EJEMPLOS DE CAD/CAM Y MATHLAB</a:t>
            </a:r>
          </a:p>
        </p:txBody>
      </p:sp>
      <p:pic>
        <p:nvPicPr>
          <p:cNvPr id="4" name="Content Placeholder 3"/>
          <p:cNvPicPr>
            <a:picLocks noGrp="1" noChangeAspect="1"/>
          </p:cNvPicPr>
          <p:nvPr>
            <p:ph idx="1"/>
          </p:nvPr>
        </p:nvPicPr>
        <p:blipFill>
          <a:blip r:embed="rId2"/>
          <a:stretch>
            <a:fillRect/>
          </a:stretch>
        </p:blipFill>
        <p:spPr>
          <a:xfrm>
            <a:off x="609600" y="2410691"/>
            <a:ext cx="5064687" cy="2895600"/>
          </a:xfrm>
          <a:prstGeom prst="rect">
            <a:avLst/>
          </a:prstGeom>
        </p:spPr>
      </p:pic>
      <p:pic>
        <p:nvPicPr>
          <p:cNvPr id="5" name="Picture 4"/>
          <p:cNvPicPr>
            <a:picLocks noChangeAspect="1"/>
          </p:cNvPicPr>
          <p:nvPr/>
        </p:nvPicPr>
        <p:blipFill>
          <a:blip r:embed="rId3"/>
          <a:stretch>
            <a:fillRect/>
          </a:stretch>
        </p:blipFill>
        <p:spPr>
          <a:xfrm>
            <a:off x="6266150" y="2133600"/>
            <a:ext cx="4772025" cy="3962400"/>
          </a:xfrm>
          <a:prstGeom prst="rect">
            <a:avLst/>
          </a:prstGeom>
        </p:spPr>
      </p:pic>
    </p:spTree>
    <p:extLst>
      <p:ext uri="{BB962C8B-B14F-4D97-AF65-F5344CB8AC3E}">
        <p14:creationId xmlns:p14="http://schemas.microsoft.com/office/powerpoint/2010/main" val="1317030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s-ES" b="1" dirty="0"/>
              <a:t>Lenguajes Script</a:t>
            </a:r>
            <a:r>
              <a:rPr lang="es-ES" dirty="0"/>
              <a:t>: Son lenguajes como JAVASCRIPT, VBSCRIPT, PERLSCRIPT, que se utilizan en ambientes clientes servidor, mediante la incrustación de código en las páginas HTML, y así permitir la programación del lado del cliente, buscando fundamentalmente, hacer más atractivos los interfaces gráficos de las páginas</a:t>
            </a:r>
            <a:endParaRPr lang="en-US" dirty="0"/>
          </a:p>
        </p:txBody>
      </p:sp>
    </p:spTree>
    <p:extLst>
      <p:ext uri="{BB962C8B-B14F-4D97-AF65-F5344CB8AC3E}">
        <p14:creationId xmlns:p14="http://schemas.microsoft.com/office/powerpoint/2010/main" val="1148065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Lenguajes</a:t>
            </a:r>
            <a:r>
              <a:rPr lang="en-US" dirty="0"/>
              <a:t> mas </a:t>
            </a:r>
            <a:r>
              <a:rPr lang="en-US" dirty="0" err="1"/>
              <a:t>populares</a:t>
            </a:r>
            <a:r>
              <a:rPr lang="en-US" dirty="0"/>
              <a:t> 2017</a:t>
            </a:r>
            <a:br>
              <a:rPr lang="en-US" dirty="0"/>
            </a:br>
            <a:endParaRPr lang="en-US" dirty="0"/>
          </a:p>
        </p:txBody>
      </p:sp>
      <p:sp>
        <p:nvSpPr>
          <p:cNvPr id="3" name="Content Placeholder 2"/>
          <p:cNvSpPr>
            <a:spLocks noGrp="1"/>
          </p:cNvSpPr>
          <p:nvPr>
            <p:ph idx="1"/>
          </p:nvPr>
        </p:nvSpPr>
        <p:spPr/>
        <p:txBody>
          <a:bodyPr/>
          <a:lstStyle/>
          <a:p>
            <a:r>
              <a:rPr lang="es-ES" dirty="0"/>
              <a:t>Actualmente existen alrededor de 2000 lenguajes de programación </a:t>
            </a:r>
            <a:endParaRPr lang="en-US" dirty="0"/>
          </a:p>
          <a:p>
            <a:pPr marL="0" indent="0">
              <a:buNone/>
            </a:pPr>
            <a:endParaRPr lang="en-US" dirty="0"/>
          </a:p>
        </p:txBody>
      </p:sp>
    </p:spTree>
    <p:extLst>
      <p:ext uri="{BB962C8B-B14F-4D97-AF65-F5344CB8AC3E}">
        <p14:creationId xmlns:p14="http://schemas.microsoft.com/office/powerpoint/2010/main" val="1774752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2847704" y="940661"/>
            <a:ext cx="5721530" cy="5397867"/>
          </a:xfrm>
          <a:prstGeom prst="rect">
            <a:avLst/>
          </a:prstGeom>
        </p:spPr>
      </p:pic>
    </p:spTree>
    <p:extLst>
      <p:ext uri="{BB962C8B-B14F-4D97-AF65-F5344CB8AC3E}">
        <p14:creationId xmlns:p14="http://schemas.microsoft.com/office/powerpoint/2010/main" val="4236790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stretch>
            <a:fillRect/>
          </a:stretch>
        </p:blipFill>
        <p:spPr>
          <a:xfrm>
            <a:off x="2261028" y="996012"/>
            <a:ext cx="6506454" cy="5485614"/>
          </a:xfrm>
          <a:prstGeom prst="rect">
            <a:avLst/>
          </a:prstGeom>
        </p:spPr>
      </p:pic>
    </p:spTree>
    <p:extLst>
      <p:ext uri="{BB962C8B-B14F-4D97-AF65-F5344CB8AC3E}">
        <p14:creationId xmlns:p14="http://schemas.microsoft.com/office/powerpoint/2010/main" val="3134214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299447" y="704088"/>
            <a:ext cx="7089641" cy="5882894"/>
          </a:xfrm>
          <a:prstGeom prst="rect">
            <a:avLst/>
          </a:prstGeom>
        </p:spPr>
      </p:pic>
    </p:spTree>
    <p:extLst>
      <p:ext uri="{BB962C8B-B14F-4D97-AF65-F5344CB8AC3E}">
        <p14:creationId xmlns:p14="http://schemas.microsoft.com/office/powerpoint/2010/main" val="3977311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232212" y="890026"/>
            <a:ext cx="6220665" cy="5260203"/>
          </a:xfrm>
          <a:prstGeom prst="rect">
            <a:avLst/>
          </a:prstGeom>
        </p:spPr>
      </p:pic>
    </p:spTree>
    <p:extLst>
      <p:ext uri="{BB962C8B-B14F-4D97-AF65-F5344CB8AC3E}">
        <p14:creationId xmlns:p14="http://schemas.microsoft.com/office/powerpoint/2010/main" val="1175899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468880" y="552177"/>
            <a:ext cx="6365557" cy="5867383"/>
          </a:xfrm>
          <a:prstGeom prst="rect">
            <a:avLst/>
          </a:prstGeom>
        </p:spPr>
      </p:pic>
    </p:spTree>
    <p:extLst>
      <p:ext uri="{BB962C8B-B14F-4D97-AF65-F5344CB8AC3E}">
        <p14:creationId xmlns:p14="http://schemas.microsoft.com/office/powerpoint/2010/main" val="1170663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625634" y="1266824"/>
            <a:ext cx="6108791" cy="5006121"/>
          </a:xfrm>
          <a:prstGeom prst="rect">
            <a:avLst/>
          </a:prstGeom>
        </p:spPr>
      </p:pic>
    </p:spTree>
    <p:extLst>
      <p:ext uri="{BB962C8B-B14F-4D97-AF65-F5344CB8AC3E}">
        <p14:creationId xmlns:p14="http://schemas.microsoft.com/office/powerpoint/2010/main" val="3935239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338252" y="1007700"/>
            <a:ext cx="6524296" cy="5352680"/>
          </a:xfrm>
          <a:prstGeom prst="rect">
            <a:avLst/>
          </a:prstGeom>
        </p:spPr>
      </p:pic>
    </p:spTree>
    <p:extLst>
      <p:ext uri="{BB962C8B-B14F-4D97-AF65-F5344CB8AC3E}">
        <p14:creationId xmlns:p14="http://schemas.microsoft.com/office/powerpoint/2010/main" val="4141363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325189" y="668551"/>
            <a:ext cx="6491559" cy="5648211"/>
          </a:xfrm>
          <a:prstGeom prst="rect">
            <a:avLst/>
          </a:prstGeom>
        </p:spPr>
      </p:pic>
    </p:spTree>
    <p:extLst>
      <p:ext uri="{BB962C8B-B14F-4D97-AF65-F5344CB8AC3E}">
        <p14:creationId xmlns:p14="http://schemas.microsoft.com/office/powerpoint/2010/main" val="382109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429691" y="1590675"/>
            <a:ext cx="6399984" cy="4303822"/>
          </a:xfrm>
          <a:prstGeom prst="rect">
            <a:avLst/>
          </a:prstGeom>
        </p:spPr>
      </p:pic>
    </p:spTree>
    <p:extLst>
      <p:ext uri="{BB962C8B-B14F-4D97-AF65-F5344CB8AC3E}">
        <p14:creationId xmlns:p14="http://schemas.microsoft.com/office/powerpoint/2010/main" val="185015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881051" y="854120"/>
            <a:ext cx="7760019" cy="5298577"/>
          </a:xfrm>
          <a:prstGeom prst="rect">
            <a:avLst/>
          </a:prstGeom>
        </p:spPr>
      </p:pic>
    </p:spTree>
    <p:extLst>
      <p:ext uri="{BB962C8B-B14F-4D97-AF65-F5344CB8AC3E}">
        <p14:creationId xmlns:p14="http://schemas.microsoft.com/office/powerpoint/2010/main" val="1056393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Summarize</a:t>
            </a:r>
          </a:p>
        </p:txBody>
      </p:sp>
      <p:sp>
        <p:nvSpPr>
          <p:cNvPr id="2" name="Content Placeholder 1"/>
          <p:cNvSpPr>
            <a:spLocks noGrp="1"/>
          </p:cNvSpPr>
          <p:nvPr>
            <p:ph idx="1"/>
          </p:nvPr>
        </p:nvSpPr>
        <p:spPr/>
        <p:txBody>
          <a:bodyPr/>
          <a:lstStyle/>
          <a:p>
            <a:pPr marL="0" indent="0">
              <a:buNone/>
            </a:pPr>
            <a:endParaRPr lang="en-US" dirty="0"/>
          </a:p>
          <a:p>
            <a:pPr marL="0" indent="0">
              <a:buNone/>
            </a:pPr>
            <a:r>
              <a:rPr lang="en-US" b="1" dirty="0" err="1"/>
              <a:t>Cual</a:t>
            </a:r>
            <a:r>
              <a:rPr lang="en-US" b="1" dirty="0"/>
              <a:t> </a:t>
            </a:r>
            <a:r>
              <a:rPr lang="en-US" b="1" dirty="0" err="1"/>
              <a:t>es</a:t>
            </a:r>
            <a:r>
              <a:rPr lang="en-US" b="1" dirty="0"/>
              <a:t> el </a:t>
            </a:r>
            <a:r>
              <a:rPr lang="en-US" b="1" dirty="0" err="1"/>
              <a:t>mejor</a:t>
            </a:r>
            <a:r>
              <a:rPr lang="en-US" b="1" dirty="0"/>
              <a:t> </a:t>
            </a:r>
            <a:r>
              <a:rPr lang="en-US" b="1" dirty="0" err="1"/>
              <a:t>lenguaje</a:t>
            </a:r>
            <a:r>
              <a:rPr lang="en-US" b="1" dirty="0"/>
              <a:t> de </a:t>
            </a:r>
            <a:r>
              <a:rPr lang="en-US" b="1" dirty="0" err="1"/>
              <a:t>programació</a:t>
            </a:r>
            <a:r>
              <a:rPr lang="en-US" b="1" dirty="0"/>
              <a:t>? </a:t>
            </a:r>
          </a:p>
          <a:p>
            <a:pPr marL="0" indent="0">
              <a:buNone/>
            </a:pPr>
            <a:endParaRPr lang="en-US" dirty="0"/>
          </a:p>
          <a:p>
            <a:pPr marL="0" indent="0">
              <a:buNone/>
            </a:pPr>
            <a:r>
              <a:rPr lang="en-US" b="1" dirty="0">
                <a:solidFill>
                  <a:srgbClr val="FF0000"/>
                </a:solidFill>
              </a:rPr>
              <a:t>Para mi no </a:t>
            </a:r>
            <a:r>
              <a:rPr lang="en-US" b="1" dirty="0" err="1">
                <a:solidFill>
                  <a:srgbClr val="FF0000"/>
                </a:solidFill>
              </a:rPr>
              <a:t>existe</a:t>
            </a:r>
            <a:r>
              <a:rPr lang="en-US" b="1" dirty="0">
                <a:solidFill>
                  <a:srgbClr val="FF0000"/>
                </a:solidFill>
              </a:rPr>
              <a:t> </a:t>
            </a:r>
            <a:r>
              <a:rPr lang="en-US" b="1" dirty="0" err="1">
                <a:solidFill>
                  <a:srgbClr val="FF0000"/>
                </a:solidFill>
              </a:rPr>
              <a:t>tal</a:t>
            </a:r>
            <a:r>
              <a:rPr lang="en-US" b="1" dirty="0">
                <a:solidFill>
                  <a:srgbClr val="FF0000"/>
                </a:solidFill>
              </a:rPr>
              <a:t> </a:t>
            </a:r>
            <a:r>
              <a:rPr lang="en-US" b="1" dirty="0" err="1">
                <a:solidFill>
                  <a:srgbClr val="FF0000"/>
                </a:solidFill>
              </a:rPr>
              <a:t>como</a:t>
            </a:r>
            <a:r>
              <a:rPr lang="en-US" b="1" dirty="0">
                <a:solidFill>
                  <a:srgbClr val="FF0000"/>
                </a:solidFill>
              </a:rPr>
              <a:t> </a:t>
            </a:r>
            <a:r>
              <a:rPr lang="en-US" b="1" dirty="0" err="1">
                <a:solidFill>
                  <a:srgbClr val="FF0000"/>
                </a:solidFill>
              </a:rPr>
              <a:t>como</a:t>
            </a:r>
            <a:r>
              <a:rPr lang="en-US" b="1" dirty="0">
                <a:solidFill>
                  <a:srgbClr val="FF0000"/>
                </a:solidFill>
              </a:rPr>
              <a:t> EL MEJOR </a:t>
            </a:r>
            <a:r>
              <a:rPr lang="en-US" b="1" dirty="0" err="1">
                <a:solidFill>
                  <a:srgbClr val="FF0000"/>
                </a:solidFill>
              </a:rPr>
              <a:t>lenguaje</a:t>
            </a:r>
            <a:r>
              <a:rPr lang="en-US" b="1" dirty="0">
                <a:solidFill>
                  <a:srgbClr val="FF0000"/>
                </a:solidFill>
              </a:rPr>
              <a:t> de </a:t>
            </a:r>
            <a:r>
              <a:rPr lang="en-US" b="1" dirty="0" err="1">
                <a:solidFill>
                  <a:srgbClr val="FF0000"/>
                </a:solidFill>
              </a:rPr>
              <a:t>programación</a:t>
            </a:r>
            <a:endParaRPr lang="en-US" b="1" dirty="0">
              <a:solidFill>
                <a:srgbClr val="FF0000"/>
              </a:solidFill>
            </a:endParaRPr>
          </a:p>
        </p:txBody>
      </p:sp>
    </p:spTree>
    <p:extLst>
      <p:ext uri="{BB962C8B-B14F-4D97-AF65-F5344CB8AC3E}">
        <p14:creationId xmlns:p14="http://schemas.microsoft.com/office/powerpoint/2010/main" val="2054880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resentation on brainstorming">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rtlCol="0" anchor="ctr"/>
      <a:lstStyle>
        <a:defPPr algn="ctr">
          <a:defRPr/>
        </a:defPPr>
      </a:lstStyle>
      <a:style>
        <a:lnRef idx="1">
          <a:schemeClr val="accent3"/>
        </a:lnRef>
        <a:fillRef idx="2">
          <a:schemeClr val="accent3"/>
        </a:fillRef>
        <a:effectRef idx="1">
          <a:schemeClr val="accent3"/>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none" rtlCol="0">
        <a:spAutoFit/>
      </a:bodyPr>
      <a:lstStyle>
        <a:defPPr>
          <a:defRPr dirty="0" err="1" smtClean="0"/>
        </a:defPPr>
      </a:lstStyle>
    </a:txDef>
  </a:objectDefaults>
  <a:extraClrSchemeLst/>
  <a:extLst>
    <a:ext uri="{05A4C25C-085E-4340-85A3-A5531E510DB2}">
      <thm15:themeFamily xmlns:thm15="http://schemas.microsoft.com/office/thememl/2012/main" name="Business brainstorming presentation.potx" id="{DE77CA07-3D7A-4CF2-AF02-587F794CB3CB}" vid="{13C2A94F-C0A1-4622-B71C-29A3B00D5E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Business brainstorming presentation</Template>
  <TotalTime>760</TotalTime>
  <Words>2646</Words>
  <Application>Microsoft Office PowerPoint</Application>
  <PresentationFormat>Panorámica</PresentationFormat>
  <Paragraphs>173</Paragraphs>
  <Slides>50</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50</vt:i4>
      </vt:variant>
    </vt:vector>
  </HeadingPairs>
  <TitlesOfParts>
    <vt:vector size="55" baseType="lpstr">
      <vt:lpstr>Calibri</vt:lpstr>
      <vt:lpstr>Century Gothic</vt:lpstr>
      <vt:lpstr>Palatino Linotype</vt:lpstr>
      <vt:lpstr>Wingdings 2</vt:lpstr>
      <vt:lpstr>Presentation on brainstorming</vt:lpstr>
      <vt:lpstr>Historia de los Lenguajes de Programación</vt:lpstr>
      <vt:lpstr>Vista General</vt:lpstr>
      <vt:lpstr>HISTORIA</vt:lpstr>
      <vt:lpstr>HISTORIA</vt:lpstr>
      <vt:lpstr>FORTRAN</vt:lpstr>
      <vt:lpstr>1950 y 1960             1968-1979</vt:lpstr>
      <vt:lpstr>1980-1989                1990-1999</vt:lpstr>
      <vt:lpstr>Actualidad</vt:lpstr>
      <vt:lpstr>EVOLUCIÓN DE LOS LENGUAJES DE PROGRAMACIÓN</vt:lpstr>
      <vt:lpstr>LENGUAJES DE PRIMERA GENERACIÓN</vt:lpstr>
      <vt:lpstr>LENGUAJES DE SEGUNDA GENERACIÓN</vt:lpstr>
      <vt:lpstr>LENGUAJES DE TERCERA GENERACIÓN</vt:lpstr>
      <vt:lpstr>LENGUAJES DE CUARTA GENERACIÓN</vt:lpstr>
      <vt:lpstr>LENGUAJES DE QUINTA GENERACIÓN</vt:lpstr>
      <vt:lpstr>SELECCIÓN DE UN LENGUAJE DE PROGRAMACIÓN</vt:lpstr>
      <vt:lpstr>TRADUCTORES DE LENGUAJE</vt:lpstr>
      <vt:lpstr>Clasificacion</vt:lpstr>
      <vt:lpstr>Clasificacion</vt:lpstr>
      <vt:lpstr>Presentación de PowerPoint</vt:lpstr>
      <vt:lpstr>Presentación de PowerPoint</vt:lpstr>
      <vt:lpstr>Presentación de PowerPoint</vt:lpstr>
      <vt:lpstr>Presentación de PowerPoint</vt:lpstr>
      <vt:lpstr>Presentación de PowerPoint</vt:lpstr>
      <vt:lpstr>Presentación de PowerPoint</vt:lpstr>
      <vt:lpstr>Ejemplos de programas en Ensamblador 8086</vt:lpstr>
      <vt:lpstr>Presentación de PowerPoint</vt:lpstr>
      <vt:lpstr>Ejemplo de Arreglo en Pascal</vt:lpstr>
      <vt:lpstr>Presentación de PowerPoint</vt:lpstr>
      <vt:lpstr>Ejemplo de Ruby</vt:lpstr>
      <vt:lpstr>Presentación de PowerPoint</vt:lpstr>
      <vt:lpstr>Ejemplo del Preproceso</vt:lpstr>
      <vt:lpstr>Presentación de PowerPoint</vt:lpstr>
      <vt:lpstr>Ejemplo de INFORMIX</vt:lpstr>
      <vt:lpstr>Presentación de PowerPoint</vt:lpstr>
      <vt:lpstr>Presentación de PowerPoint</vt:lpstr>
      <vt:lpstr>Presentación de PowerPoint</vt:lpstr>
      <vt:lpstr>EJEMPLOS DE CAD/CAM Y MATHLAB</vt:lpstr>
      <vt:lpstr>Presentación de PowerPoint</vt:lpstr>
      <vt:lpstr>Lenguajes mas populares 2017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Summarize</vt:lpstr>
    </vt:vector>
  </TitlesOfParts>
  <Company>Citigroup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Historia de los Lenguajes de Programación</dc:title>
  <dc:creator>Benjamin Curling, Alexander [ICG-OPS]</dc:creator>
  <cp:lastModifiedBy>Evelyn Cordero Badilla</cp:lastModifiedBy>
  <cp:revision>21</cp:revision>
  <dcterms:created xsi:type="dcterms:W3CDTF">2018-05-23T04:45:37Z</dcterms:created>
  <dcterms:modified xsi:type="dcterms:W3CDTF">2026-05-22T02:11:28Z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74069100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